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F57"/>
        </a:solidFill>
      </p:bgPr>
    </p:bg>
    <p:spTree>
      <p:nvGrpSpPr>
        <p:cNvPr id="1" name=""/>
        <p:cNvGrpSpPr/>
        <p:nvPr/>
      </p:nvGrpSpPr>
      <p:grpSpPr>
        <a:xfrm>
          <a:off x="0" y="0"/>
          <a:ext cx="0" cy="0"/>
          <a:chOff x="0" y="0"/>
          <a:chExt cx="0" cy="0"/>
        </a:xfrm>
      </p:grpSpPr>
      <p:sp>
        <p:nvSpPr>
          <p:cNvPr id="2" name="Shape 0"/>
          <p:cNvSpPr/>
          <p:nvPr/>
        </p:nvSpPr>
        <p:spPr>
          <a:xfrm>
            <a:off x="868680" y="1097280"/>
            <a:ext cx="384048" cy="32004"/>
          </a:xfrm>
          <a:prstGeom prst="rect">
            <a:avLst/>
          </a:prstGeom>
          <a:solidFill>
            <a:srgbClr val="6D3FD1"/>
          </a:solidFill>
          <a:ln/>
        </p:spPr>
      </p:sp>
      <p:sp>
        <p:nvSpPr>
          <p:cNvPr id="3" name="Text 1"/>
          <p:cNvSpPr txBox="1"/>
          <p:nvPr/>
        </p:nvSpPr>
        <p:spPr>
          <a:xfrm>
            <a:off x="868680" y="1207008"/>
            <a:ext cx="7315200"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6C6873"/>
                </a:solidFill>
                <a:latin typeface="Arial" pitchFamily="34" charset="0"/>
                <a:ea typeface="Arial" pitchFamily="34" charset="-122"/>
                <a:cs typeface="Arial" pitchFamily="34" charset="-120"/>
              </a:rPr>
              <a:t>OUAZZANI DESIGN  ·  C1.3  ·  SQUELETTE DE PARCOURS</a:t>
            </a:r>
            <a:endParaRPr lang="en-US" sz="800" dirty="0"/>
          </a:p>
        </p:txBody>
      </p:sp>
      <p:sp>
        <p:nvSpPr>
          <p:cNvPr id="4" name="Text 2"/>
          <p:cNvSpPr txBox="1"/>
          <p:nvPr/>
        </p:nvSpPr>
        <p:spPr>
          <a:xfrm>
            <a:off x="868680" y="2103120"/>
            <a:ext cx="6949440" cy="1828800"/>
          </a:xfrm>
          <a:prstGeom prst="rect">
            <a:avLst/>
          </a:prstGeom>
          <a:noFill/>
          <a:ln/>
        </p:spPr>
        <p:txBody>
          <a:bodyPr wrap="square" lIns="0" tIns="0" rIns="0" bIns="0" rtlCol="0" anchor="t"/>
          <a:lstStyle/>
          <a:p>
            <a:pPr indent="0" marL="0">
              <a:lnSpc>
                <a:spcPts val="5100"/>
              </a:lnSpc>
              <a:buNone/>
            </a:pPr>
            <a:r>
              <a:rPr lang="en-US" sz="4600" b="1" spc="-80" kern="0" dirty="0">
                <a:solidFill>
                  <a:srgbClr val="F6F4F9"/>
                </a:solidFill>
                <a:latin typeface="Arial" pitchFamily="34" charset="0"/>
                <a:ea typeface="Arial" pitchFamily="34" charset="-122"/>
                <a:cs typeface="Arial" pitchFamily="34" charset="-120"/>
              </a:rPr>
              <a:t>Recherche et synthèse utilisateur</a:t>
            </a:r>
            <a:endParaRPr lang="en-US" sz="4600" dirty="0"/>
          </a:p>
        </p:txBody>
      </p:sp>
      <p:sp>
        <p:nvSpPr>
          <p:cNvPr id="5" name="Text 3"/>
          <p:cNvSpPr txBox="1"/>
          <p:nvPr/>
        </p:nvSpPr>
        <p:spPr>
          <a:xfrm>
            <a:off x="868680" y="4069080"/>
            <a:ext cx="6035040" cy="822960"/>
          </a:xfrm>
          <a:prstGeom prst="rect">
            <a:avLst/>
          </a:prstGeom>
          <a:noFill/>
          <a:ln/>
        </p:spPr>
        <p:txBody>
          <a:bodyPr wrap="square" lIns="0" tIns="0" rIns="0" bIns="0" rtlCol="0" anchor="t"/>
          <a:lstStyle/>
          <a:p>
            <a:pPr indent="0" marL="0">
              <a:lnSpc>
                <a:spcPts val="2000"/>
              </a:lnSpc>
              <a:buNone/>
            </a:pPr>
            <a:r>
              <a:rPr lang="en-US" sz="1400" dirty="0">
                <a:solidFill>
                  <a:srgbClr val="D9CCF5"/>
                </a:solidFill>
                <a:latin typeface="Calibri" pitchFamily="34" charset="0"/>
                <a:ea typeface="Calibri" pitchFamily="34" charset="-122"/>
                <a:cs typeface="Calibri" pitchFamily="34" charset="-120"/>
              </a:rPr>
              <a:t>0 livrables sur 0, chacun présenté dans le format qui fait référence pour sa question. 0 planche(s) de format vérifiées par le calcul.</a:t>
            </a:r>
            <a:endParaRPr lang="en-US" sz="1400" dirty="0"/>
          </a:p>
        </p:txBody>
      </p:sp>
      <p:sp>
        <p:nvSpPr>
          <p:cNvPr id="6" name="Text 4"/>
          <p:cNvSpPr txBox="1"/>
          <p:nvPr/>
        </p:nvSpPr>
        <p:spPr>
          <a:xfrm>
            <a:off x="868680" y="5989320"/>
            <a:ext cx="7315200" cy="274320"/>
          </a:xfrm>
          <a:prstGeom prst="rect">
            <a:avLst/>
          </a:prstGeom>
          <a:noFill/>
          <a:ln/>
        </p:spPr>
        <p:txBody>
          <a:bodyPr wrap="square" lIns="0" tIns="0" rIns="0" bIns="0" rtlCol="0" anchor="t"/>
          <a:lstStyle/>
          <a:p>
            <a:pPr indent="0" marL="0">
              <a:lnSpc>
                <a:spcPts val="1300"/>
              </a:lnSpc>
              <a:buNone/>
            </a:pPr>
            <a:r>
              <a:rPr lang="en-US" sz="950" dirty="0">
                <a:solidFill>
                  <a:srgbClr val="6C6873"/>
                </a:solidFill>
                <a:latin typeface="Calibri" pitchFamily="34" charset="0"/>
                <a:ea typeface="Calibri" pitchFamily="34" charset="-122"/>
                <a:cs typeface="Calibri" pitchFamily="34" charset="-120"/>
              </a:rPr>
              <a:t>Livrable partiel · projection du dépôt  ·  2026-10-09</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F9"/>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6D3FD1"/>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6C6873"/>
                </a:solidFill>
                <a:latin typeface="Arial" pitchFamily="34" charset="0"/>
                <a:ea typeface="Arial" pitchFamily="34" charset="-122"/>
                <a:cs typeface="Arial" pitchFamily="34" charset="-120"/>
              </a:rPr>
              <a:t>C1.3  ·  WP-08 — RECHERCHE ET SYNTHÈSE UTILISATEUR · RESEARCH-PLAN.MD</a:t>
            </a:r>
            <a:endParaRPr lang="en-US" sz="800" dirty="0"/>
          </a:p>
        </p:txBody>
      </p:sp>
      <p:sp>
        <p:nvSpPr>
          <p:cNvPr id="4" name="Text 2"/>
          <p:cNvSpPr txBox="1"/>
          <p:nvPr/>
        </p:nvSpPr>
        <p:spPr>
          <a:xfrm>
            <a:off x="868680" y="960120"/>
            <a:ext cx="10454335" cy="1463040"/>
          </a:xfrm>
          <a:prstGeom prst="rect">
            <a:avLst/>
          </a:prstGeom>
          <a:noFill/>
          <a:ln/>
        </p:spPr>
        <p:txBody>
          <a:bodyPr wrap="square" lIns="0" tIns="0" rIns="0" bIns="0" rtlCol="0" anchor="t"/>
          <a:lstStyle/>
          <a:p>
            <a:pPr indent="0" marL="0">
              <a:lnSpc>
                <a:spcPts val="2800"/>
              </a:lnSpc>
              <a:buNone/>
            </a:pPr>
            <a:r>
              <a:rPr lang="en-US" sz="2400" b="1" spc="-30" kern="0" dirty="0">
                <a:solidFill>
                  <a:srgbClr val="2A0F57"/>
                </a:solidFill>
                <a:latin typeface="Arial" pitchFamily="34" charset="0"/>
                <a:ea typeface="Arial" pitchFamily="34" charset="-122"/>
                <a:cs typeface="Arial" pitchFamily="34" charset="-120"/>
              </a:rPr>
              <a:t>WP-08 — Recherche et synthèse utilisateur · research-plan.md</a:t>
            </a:r>
            <a:endParaRPr lang="en-US" sz="2400" dirty="0"/>
          </a:p>
        </p:txBody>
      </p:sp>
      <p:sp>
        <p:nvSpPr>
          <p:cNvPr id="5" name="Text 3"/>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6C6873"/>
                </a:solidFill>
                <a:latin typeface="Calibri" pitchFamily="34" charset="0"/>
                <a:ea typeface="Calibri" pitchFamily="34" charset="-122"/>
                <a:cs typeface="Calibri" pitchFamily="34" charset="-120"/>
              </a:rPr>
              <a:t>Source : product/C1.3-parcours/research/research-plan.md — livrable partiel, réserves en fin de document</a:t>
            </a:r>
            <a:endParaRPr lang="en-US" sz="750" dirty="0"/>
          </a:p>
        </p:txBody>
      </p:sp>
      <p:sp>
        <p:nvSpPr>
          <p:cNvPr id="6" name="Text 4"/>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6C6873"/>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F9"/>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6D3FD1"/>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6C6873"/>
                </a:solidFill>
                <a:latin typeface="Arial" pitchFamily="34" charset="0"/>
                <a:ea typeface="Arial" pitchFamily="34" charset="-122"/>
                <a:cs typeface="Arial" pitchFamily="34" charset="-120"/>
              </a:rPr>
              <a:t>C1.3  ·  WP-08 — RECHERCHE ET SYNTHÈSE UTILISATEUR · RESEARCH-PLAN.MD</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2A0F57"/>
                </a:solidFill>
                <a:latin typeface="Arial" pitchFamily="34" charset="0"/>
                <a:ea typeface="Arial" pitchFamily="34" charset="-122"/>
                <a:cs typeface="Arial" pitchFamily="34" charset="-120"/>
              </a:rPr>
              <a:t>Plan de recherche</a:t>
            </a:r>
            <a:endParaRPr lang="en-US" sz="2200" dirty="0"/>
          </a:p>
        </p:txBody>
      </p:sp>
      <p:sp>
        <p:nvSpPr>
          <p:cNvPr id="5" name="Text 3"/>
          <p:cNvSpPr txBox="1"/>
          <p:nvPr/>
        </p:nvSpPr>
        <p:spPr>
          <a:xfrm>
            <a:off x="868680" y="2057400"/>
            <a:ext cx="10454335" cy="1190897"/>
          </a:xfrm>
          <a:prstGeom prst="rect">
            <a:avLst/>
          </a:prstGeom>
          <a:noFill/>
          <a:ln/>
        </p:spPr>
        <p:txBody>
          <a:bodyPr wrap="square" lIns="0" tIns="0" rIns="0" bIns="0" rtlCol="0" anchor="t">
            <a:normAutofit/>
          </a:bodyPr>
          <a:lstStyle/>
          <a:p>
            <a:pPr indent="0" marL="0">
              <a:lnSpc>
                <a:spcPts val="1500"/>
              </a:lnSpc>
              <a:spcAft>
                <a:spcPts val="600"/>
              </a:spcAft>
              <a:buNone/>
            </a:pPr>
            <a:r>
              <a:rPr lang="en-US" sz="1150" b="1" dirty="0">
                <a:solidFill>
                  <a:srgbClr val="47444D"/>
                </a:solidFill>
                <a:latin typeface="Calibri" pitchFamily="34" charset="0"/>
                <a:ea typeface="Calibri" pitchFamily="34" charset="-122"/>
                <a:cs typeface="Calibri" pitchFamily="34" charset="-120"/>
              </a:rPr>
              <a:t>Ce que cette recherche doit trancher Quatre hypothèses de WP-05, dont deux létales. Rien d'autre. Un protocole qui cherche tout ne prouve rien.</a:t>
            </a:r>
            <a:endParaRPr lang="en-US" sz="1150" dirty="0"/>
          </a:p>
          <a:p>
            <a:pPr indent="0" marL="0">
              <a:lnSpc>
                <a:spcPts val="1500"/>
              </a:lnSpc>
              <a:spcAft>
                <a:spcPts val="600"/>
              </a:spcAft>
              <a:buNone/>
            </a:pPr>
            <a:r>
              <a:rPr lang="en-US" sz="1150" dirty="0">
                <a:solidFill>
                  <a:srgbClr val="47444D"/>
                </a:solidFill>
                <a:latin typeface="Calibri" pitchFamily="34" charset="0"/>
                <a:ea typeface="Calibri" pitchFamily="34" charset="-122"/>
                <a:cs typeface="Calibri" pitchFamily="34" charset="-120"/>
              </a:rPr>
              <a:t>HYP-01, HYP-05, HYP-06 et HYP-10 ne sont PAS testées ici. Elles relèvent de sources documentaires (activité 3) ou de la mise en service (activité 26). Un joueur interrogé ne sait pas combien de licenciés compte son pays, ni quel est le taux de refus sectoriel en paiement à la …</a:t>
            </a:r>
            <a:endParaRPr lang="en-US" sz="1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68680" y="3385457"/>
          <a:ext cx="9144000" cy="914400"/>
        </p:xfrm>
        <a:graphic>
          <a:graphicData uri="http://schemas.openxmlformats.org/drawingml/2006/table">
            <a:tbl>
              <a:tblPr/>
              <a:tblGrid>
                <a:gridCol w="1106930"/>
                <a:gridCol w="8609453"/>
                <a:gridCol w="737953"/>
              </a:tblGrid>
              <a:tr h="0">
                <a:tc>
                  <a:txBody>
                    <a:bodyPr/>
                    <a:lstStyle/>
                    <a:p>
                      <a:pPr indent="0" marL="0">
                        <a:buNone/>
                      </a:pPr>
                      <a:r>
                        <a:rPr lang="en-US" sz="750" b="1" spc="100" kern="0" dirty="0">
                          <a:solidFill>
                            <a:srgbClr val="6C6873"/>
                          </a:solidFill>
                          <a:latin typeface="Arial" pitchFamily="34" charset="0"/>
                          <a:ea typeface="Arial" pitchFamily="34" charset="-122"/>
                          <a:cs typeface="Arial" pitchFamily="34" charset="-120"/>
                        </a:rPr>
                        <a:t>HYPOTHÈSE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2A0F57"/>
                      </a:solidFill>
                      <a:prstDash val="solid"/>
                      <a:round/>
                      <a:headEnd type="none" w="med" len="med"/>
                      <a:tailEnd type="none" w="med" len="med"/>
                    </a:lnB>
                  </a:tcPr>
                </a:tc>
                <a:tc>
                  <a:txBody>
                    <a:bodyPr/>
                    <a:lstStyle/>
                    <a:p>
                      <a:pPr indent="0" marL="0">
                        <a:buNone/>
                      </a:pPr>
                      <a:r>
                        <a:rPr lang="en-US" sz="750" b="1" spc="100" kern="0" dirty="0">
                          <a:solidFill>
                            <a:srgbClr val="6C6873"/>
                          </a:solidFill>
                          <a:latin typeface="Arial" pitchFamily="34" charset="0"/>
                          <a:ea typeface="Arial" pitchFamily="34" charset="-122"/>
                          <a:cs typeface="Arial" pitchFamily="34" charset="-120"/>
                        </a:rPr>
                        <a:t>CE QUE L'ENTRETIEN DOIT ÉTABLIR</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2A0F57"/>
                      </a:solidFill>
                      <a:prstDash val="solid"/>
                      <a:round/>
                      <a:headEnd type="none" w="med" len="med"/>
                      <a:tailEnd type="none" w="med" len="med"/>
                    </a:lnB>
                  </a:tcPr>
                </a:tc>
                <a:tc>
                  <a:txBody>
                    <a:bodyPr/>
                    <a:lstStyle/>
                    <a:p>
                      <a:pPr indent="0" marL="0">
                        <a:buNone/>
                      </a:pPr>
                      <a:r>
                        <a:rPr lang="en-US" sz="750" b="1" spc="100" kern="0" dirty="0">
                          <a:solidFill>
                            <a:srgbClr val="6C6873"/>
                          </a:solidFill>
                          <a:latin typeface="Arial" pitchFamily="34" charset="0"/>
                          <a:ea typeface="Arial" pitchFamily="34" charset="-122"/>
                          <a:cs typeface="Arial" pitchFamily="34" charset="-120"/>
                        </a:rPr>
                        <a:t>LÉTALE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2A0F57"/>
                      </a:solidFill>
                      <a:prstDash val="solid"/>
                      <a:round/>
                      <a:headEnd type="none" w="med" len="med"/>
                      <a:tailEnd type="none" w="med" len="med"/>
                    </a:lnB>
                  </a:tcPr>
                </a:tc>
              </a:tr>
              <a:tr h="0">
                <a:tc>
                  <a:txBody>
                    <a:bodyPr/>
                    <a:lstStyle/>
                    <a:p>
                      <a:pPr indent="0" marL="0">
                        <a:buNone/>
                      </a:pPr>
                      <a:r>
                        <a:rPr lang="en-US" sz="1100" b="1" dirty="0">
                          <a:solidFill>
                            <a:srgbClr val="2A0F57"/>
                          </a:solidFill>
                          <a:latin typeface="Calibri" pitchFamily="34" charset="0"/>
                          <a:ea typeface="Calibri" pitchFamily="34" charset="-122"/>
                          <a:cs typeface="Calibri" pitchFamily="34" charset="-120"/>
                        </a:rPr>
                        <a:t>HYP-02</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DD9E5"/>
                      </a:solidFill>
                      <a:prstDash val="solid"/>
                      <a:round/>
                      <a:headEnd type="none" w="med" len="med"/>
                      <a:tailEnd type="none" w="med" len="med"/>
                    </a:lnB>
                  </a:tcPr>
                </a:tc>
                <a:tc>
                  <a:txBody>
                    <a:bodyPr/>
                    <a:lstStyle/>
                    <a:p>
                      <a:pPr indent="0" marL="0">
                        <a:buNone/>
                      </a:pPr>
                      <a:r>
                        <a:rPr lang="en-US" sz="1100" dirty="0">
                          <a:solidFill>
                            <a:srgbClr val="47444D"/>
                          </a:solidFill>
                          <a:latin typeface="Calibri" pitchFamily="34" charset="0"/>
                          <a:ea typeface="Calibri" pitchFamily="34" charset="-122"/>
                          <a:cs typeface="Calibri" pitchFamily="34" charset="-120"/>
                        </a:rPr>
                        <a:t>L'achat d'une raquette passe aujourd'hui par des canaux informels, et cela crée une gêne réelle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DD9E5"/>
                      </a:solidFill>
                      <a:prstDash val="solid"/>
                      <a:round/>
                      <a:headEnd type="none" w="med" len="med"/>
                      <a:tailEnd type="none" w="med" len="med"/>
                    </a:lnB>
                  </a:tcPr>
                </a:tc>
                <a:tc>
                  <a:txBody>
                    <a:bodyPr/>
                    <a:lstStyle/>
                    <a:p>
                      <a:pPr indent="0" marL="0">
                        <a:buNone/>
                      </a:pPr>
                      <a:r>
                        <a:rPr lang="en-US" sz="1100" dirty="0">
                          <a:solidFill>
                            <a:srgbClr val="47444D"/>
                          </a:solidFill>
                          <a:latin typeface="Calibri" pitchFamily="34" charset="0"/>
                          <a:ea typeface="Calibri" pitchFamily="34" charset="-122"/>
                          <a:cs typeface="Calibri" pitchFamily="34" charset="-120"/>
                        </a:rPr>
                        <a:t>non</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DD9E5"/>
                      </a:solidFill>
                      <a:prstDash val="solid"/>
                      <a:round/>
                      <a:headEnd type="none" w="med" len="med"/>
                      <a:tailEnd type="none" w="med" len="med"/>
                    </a:lnB>
                  </a:tcPr>
                </a:tc>
              </a:tr>
              <a:tr h="0">
                <a:tc>
                  <a:txBody>
                    <a:bodyPr/>
                    <a:lstStyle/>
                    <a:p>
                      <a:pPr indent="0" marL="0">
                        <a:buNone/>
                      </a:pPr>
                      <a:r>
                        <a:rPr lang="en-US" sz="1100" b="1" dirty="0">
                          <a:solidFill>
                            <a:srgbClr val="2A0F57"/>
                          </a:solidFill>
                          <a:latin typeface="Calibri" pitchFamily="34" charset="0"/>
                          <a:ea typeface="Calibri" pitchFamily="34" charset="-122"/>
                          <a:cs typeface="Calibri" pitchFamily="34" charset="-120"/>
                        </a:rPr>
                        <a:t>HYP-03</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DD9E5"/>
                      </a:solidFill>
                      <a:prstDash val="solid"/>
                      <a:round/>
                      <a:headEnd type="none" w="med" len="med"/>
                      <a:tailEnd type="none" w="med" len="med"/>
                    </a:lnB>
                  </a:tcPr>
                </a:tc>
                <a:tc>
                  <a:txBody>
                    <a:bodyPr/>
                    <a:lstStyle/>
                    <a:p>
                      <a:pPr indent="0" marL="0">
                        <a:buNone/>
                      </a:pPr>
                      <a:r>
                        <a:rPr lang="en-US" sz="1100" dirty="0">
                          <a:solidFill>
                            <a:srgbClr val="47444D"/>
                          </a:solidFill>
                          <a:latin typeface="Calibri" pitchFamily="34" charset="0"/>
                          <a:ea typeface="Calibri" pitchFamily="34" charset="-122"/>
                          <a:cs typeface="Calibri" pitchFamily="34" charset="-120"/>
                        </a:rPr>
                        <a:t>Cette gêne coûte assez cher — délai, prix, incertitude — pour faire changer de canal</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DD9E5"/>
                      </a:solidFill>
                      <a:prstDash val="solid"/>
                      <a:round/>
                      <a:headEnd type="none" w="med" len="med"/>
                      <a:tailEnd type="none" w="med" len="med"/>
                    </a:lnB>
                  </a:tcPr>
                </a:tc>
                <a:tc>
                  <a:txBody>
                    <a:bodyPr/>
                    <a:lstStyle/>
                    <a:p>
                      <a:pPr indent="0" marL="0">
                        <a:buNone/>
                      </a:pPr>
                      <a:r>
                        <a:rPr lang="en-US" sz="1100" dirty="0">
                          <a:solidFill>
                            <a:srgbClr val="47444D"/>
                          </a:solidFill>
                          <a:latin typeface="Calibri" pitchFamily="34" charset="0"/>
                          <a:ea typeface="Calibri" pitchFamily="34" charset="-122"/>
                          <a:cs typeface="Calibri" pitchFamily="34" charset="-120"/>
                        </a:rPr>
                        <a:t>non</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DD9E5"/>
                      </a:solidFill>
                      <a:prstDash val="solid"/>
                      <a:round/>
                      <a:headEnd type="none" w="med" len="med"/>
                      <a:tailEnd type="none" w="med" len="med"/>
                    </a:lnB>
                  </a:tcPr>
                </a:tc>
              </a:tr>
              <a:tr h="0">
                <a:tc>
                  <a:txBody>
                    <a:bodyPr/>
                    <a:lstStyle/>
                    <a:p>
                      <a:pPr indent="0" marL="0">
                        <a:buNone/>
                      </a:pPr>
                      <a:r>
                        <a:rPr lang="en-US" sz="1100" b="1" dirty="0">
                          <a:solidFill>
                            <a:srgbClr val="2A0F57"/>
                          </a:solidFill>
                          <a:latin typeface="Calibri" pitchFamily="34" charset="0"/>
                          <a:ea typeface="Calibri" pitchFamily="34" charset="-122"/>
                          <a:cs typeface="Calibri" pitchFamily="34" charset="-120"/>
                        </a:rPr>
                        <a:t>HYP-09</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DD9E5"/>
                      </a:solidFill>
                      <a:prstDash val="solid"/>
                      <a:round/>
                      <a:headEnd type="none" w="med" len="med"/>
                      <a:tailEnd type="none" w="med" len="med"/>
                    </a:lnB>
                  </a:tcPr>
                </a:tc>
                <a:tc>
                  <a:txBody>
                    <a:bodyPr/>
                    <a:lstStyle/>
                    <a:p>
                      <a:pPr indent="0" marL="0">
                        <a:buNone/>
                      </a:pPr>
                      <a:r>
                        <a:rPr lang="en-US" sz="1100" dirty="0">
                          <a:solidFill>
                            <a:srgbClr val="47444D"/>
                          </a:solidFill>
                          <a:latin typeface="Calibri" pitchFamily="34" charset="0"/>
                          <a:ea typeface="Calibri" pitchFamily="34" charset="-122"/>
                          <a:cs typeface="Calibri" pitchFamily="34" charset="-120"/>
                        </a:rPr>
                        <a:t>Une raquette s'achète sans l'avoir prise en main</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DD9E5"/>
                      </a:solidFill>
                      <a:prstDash val="solid"/>
                      <a:round/>
                      <a:headEnd type="none" w="med" len="med"/>
                      <a:tailEnd type="none" w="med" len="med"/>
                    </a:lnB>
                  </a:tcPr>
                </a:tc>
                <a:tc>
                  <a:txBody>
                    <a:bodyPr/>
                    <a:lstStyle/>
                    <a:p>
                      <a:pPr indent="0" marL="0">
                        <a:buNone/>
                      </a:pPr>
                      <a:r>
                        <a:rPr lang="en-US" sz="1100" dirty="0">
                          <a:solidFill>
                            <a:srgbClr val="47444D"/>
                          </a:solidFill>
                          <a:latin typeface="Calibri" pitchFamily="34" charset="0"/>
                          <a:ea typeface="Calibri" pitchFamily="34" charset="-122"/>
                          <a:cs typeface="Calibri" pitchFamily="34" charset="-120"/>
                        </a:rPr>
                        <a:t>oui</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DD9E5"/>
                      </a:solidFill>
                      <a:prstDash val="solid"/>
                      <a:round/>
                      <a:headEnd type="none" w="med" len="med"/>
                      <a:tailEnd type="none" w="med" len="med"/>
                    </a:lnB>
                  </a:tcPr>
                </a:tc>
              </a:tr>
              <a:tr h="0">
                <a:tc>
                  <a:txBody>
                    <a:bodyPr/>
                    <a:lstStyle/>
                    <a:p>
                      <a:pPr indent="0" marL="0">
                        <a:buNone/>
                      </a:pPr>
                      <a:r>
                        <a:rPr lang="en-US" sz="1100" b="1" dirty="0">
                          <a:solidFill>
                            <a:srgbClr val="2A0F57"/>
                          </a:solidFill>
                          <a:latin typeface="Calibri" pitchFamily="34" charset="0"/>
                          <a:ea typeface="Calibri" pitchFamily="34" charset="-122"/>
                          <a:cs typeface="Calibri" pitchFamily="34" charset="-120"/>
                        </a:rPr>
                        <a:t>HYP-04</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DD9E5"/>
                      </a:solidFill>
                      <a:prstDash val="solid"/>
                      <a:round/>
                      <a:headEnd type="none" w="med" len="med"/>
                      <a:tailEnd type="none" w="med" len="med"/>
                    </a:lnB>
                  </a:tcPr>
                </a:tc>
                <a:tc>
                  <a:txBody>
                    <a:bodyPr/>
                    <a:lstStyle/>
                    <a:p>
                      <a:pPr indent="0" marL="0">
                        <a:buNone/>
                      </a:pPr>
                      <a:r>
                        <a:rPr lang="en-US" sz="1100" dirty="0">
                          <a:solidFill>
                            <a:srgbClr val="47444D"/>
                          </a:solidFill>
                          <a:latin typeface="Calibri" pitchFamily="34" charset="0"/>
                          <a:ea typeface="Calibri" pitchFamily="34" charset="-122"/>
                          <a:cs typeface="Calibri" pitchFamily="34" charset="-120"/>
                        </a:rPr>
                        <a:t>Un canal d'acquisition atteignable existe — et notamment : le prescripteur est-il le coach ?</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DD9E5"/>
                      </a:solidFill>
                      <a:prstDash val="solid"/>
                      <a:round/>
                      <a:headEnd type="none" w="med" len="med"/>
                      <a:tailEnd type="none" w="med" len="med"/>
                    </a:lnB>
                  </a:tcPr>
                </a:tc>
                <a:tc>
                  <a:txBody>
                    <a:bodyPr/>
                    <a:lstStyle/>
                    <a:p>
                      <a:pPr indent="0" marL="0">
                        <a:buNone/>
                      </a:pPr>
                      <a:r>
                        <a:rPr lang="en-US" sz="1100" dirty="0">
                          <a:solidFill>
                            <a:srgbClr val="47444D"/>
                          </a:solidFill>
                          <a:latin typeface="Calibri" pitchFamily="34" charset="0"/>
                          <a:ea typeface="Calibri" pitchFamily="34" charset="-122"/>
                          <a:cs typeface="Calibri" pitchFamily="34" charset="-120"/>
                        </a:rPr>
                        <a:t>oui</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DD9E5"/>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6C6873"/>
                </a:solidFill>
                <a:latin typeface="Calibri" pitchFamily="34" charset="0"/>
                <a:ea typeface="Calibri" pitchFamily="34" charset="-122"/>
                <a:cs typeface="Calibri" pitchFamily="34" charset="-120"/>
              </a:rPr>
              <a:t>Source : product/C1.3-parcours/research/research-plan.md — texte intégral dans le fichier</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6C6873"/>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F9"/>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6D3FD1"/>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6C6873"/>
                </a:solidFill>
                <a:latin typeface="Arial" pitchFamily="34" charset="0"/>
                <a:ea typeface="Arial" pitchFamily="34" charset="-122"/>
                <a:cs typeface="Arial" pitchFamily="34" charset="-120"/>
              </a:rPr>
              <a:t>C1.3  ·  WP-08 — RECHERCHE ET SYNTHÈSE UTILISATEUR · RESEARCH-PLAN.MD</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2A0F57"/>
                </a:solidFill>
                <a:latin typeface="Arial" pitchFamily="34" charset="0"/>
                <a:ea typeface="Arial" pitchFamily="34" charset="-122"/>
                <a:cs typeface="Arial" pitchFamily="34" charset="-120"/>
              </a:rPr>
              <a:t>Verbatims tracés</a:t>
            </a:r>
            <a:endParaRPr lang="en-US" sz="2200" dirty="0"/>
          </a:p>
        </p:txBody>
      </p:sp>
      <p:sp>
        <p:nvSpPr>
          <p:cNvPr id="5" name="Text 3"/>
          <p:cNvSpPr txBox="1"/>
          <p:nvPr/>
        </p:nvSpPr>
        <p:spPr>
          <a:xfrm>
            <a:off x="868680" y="2057400"/>
            <a:ext cx="10454335" cy="4069080"/>
          </a:xfrm>
          <a:prstGeom prst="rect">
            <a:avLst/>
          </a:prstGeom>
          <a:noFill/>
          <a:ln/>
        </p:spPr>
        <p:txBody>
          <a:bodyPr wrap="square" lIns="0" tIns="0" rIns="0" bIns="0" rtlCol="0" anchor="t">
            <a:normAutofit/>
          </a:bodyPr>
          <a:lstStyle/>
          <a:p>
            <a:pPr indent="0" marL="0">
              <a:lnSpc>
                <a:spcPts val="1800"/>
              </a:lnSpc>
              <a:spcAft>
                <a:spcPts val="600"/>
              </a:spcAft>
              <a:buNone/>
            </a:pPr>
            <a:r>
              <a:rPr lang="en-US" sz="1350" dirty="0">
                <a:solidFill>
                  <a:srgbClr val="47444D"/>
                </a:solidFill>
                <a:latin typeface="Calibri" pitchFamily="34" charset="0"/>
                <a:ea typeface="Calibri" pitchFamily="34" charset="-122"/>
                <a:cs typeface="Calibri" pitchFamily="34" charset="-120"/>
              </a:rPr>
              <a:t>BLOCKED — aucun participant. Un verbatim est ce qu'une personne a dit, littéralement. Il ne s'infère pas. product/research/interviews/ restera vide jusqu'au premier entretien consenti.</a:t>
            </a:r>
            <a:endParaRPr lang="en-US" sz="1350" dirty="0"/>
          </a:p>
          <a:p>
            <a:pPr indent="0" marL="0">
              <a:lnSpc>
                <a:spcPts val="1800"/>
              </a:lnSpc>
              <a:spcAft>
                <a:spcPts val="600"/>
              </a:spcAft>
              <a:buNone/>
            </a:pPr>
            <a:r>
              <a:rPr lang="en-US" sz="1350" dirty="0">
                <a:solidFill>
                  <a:srgbClr val="47444D"/>
                </a:solidFill>
                <a:latin typeface="Calibri" pitchFamily="34" charset="0"/>
                <a:ea typeface="Calibri" pitchFamily="34" charset="-122"/>
                <a:cs typeface="Calibri" pitchFamily="34" charset="-120"/>
              </a:rPr>
              <a:t>Forme prévue, un fichier par participant : P-01.md … identifiant, date, club de provenance, durée, langue, consentement à l'enregistrement, et la retranscription non filtrée — les digressions et les réponses inutiles comprises. Filtrer à la prise de notes, c'est analyser avant d'observer.</a:t>
            </a:r>
            <a:endParaRPr lang="en-US" sz="1350" dirty="0"/>
          </a:p>
        </p:txBody>
      </p:sp>
      <p:sp>
        <p:nvSpPr>
          <p:cNvPr id="6"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6C6873"/>
                </a:solidFill>
                <a:latin typeface="Calibri" pitchFamily="34" charset="0"/>
                <a:ea typeface="Calibri" pitchFamily="34" charset="-122"/>
                <a:cs typeface="Calibri" pitchFamily="34" charset="-120"/>
              </a:rPr>
              <a:t>Source : product/C1.3-parcours/research/research-plan.md</a:t>
            </a:r>
            <a:endParaRPr lang="en-US" sz="750" dirty="0"/>
          </a:p>
        </p:txBody>
      </p:sp>
      <p:sp>
        <p:nvSpPr>
          <p:cNvPr id="7"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6C6873"/>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F9"/>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6D3FD1"/>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6C6873"/>
                </a:solidFill>
                <a:latin typeface="Arial" pitchFamily="34" charset="0"/>
                <a:ea typeface="Arial" pitchFamily="34" charset="-122"/>
                <a:cs typeface="Arial" pitchFamily="34" charset="-120"/>
              </a:rPr>
              <a:t>C1.3  ·  WP-08 — RECHERCHE ET SYNTHÈSE UTILISATEUR · RESEARCH-PLAN.MD</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2A0F57"/>
                </a:solidFill>
                <a:latin typeface="Arial" pitchFamily="34" charset="0"/>
                <a:ea typeface="Arial" pitchFamily="34" charset="-122"/>
                <a:cs typeface="Arial" pitchFamily="34" charset="-120"/>
              </a:rPr>
              <a:t>Insights</a:t>
            </a:r>
            <a:endParaRPr lang="en-US" sz="2200" dirty="0"/>
          </a:p>
        </p:txBody>
      </p:sp>
      <p:sp>
        <p:nvSpPr>
          <p:cNvPr id="5" name="Text 3"/>
          <p:cNvSpPr txBox="1"/>
          <p:nvPr/>
        </p:nvSpPr>
        <p:spPr>
          <a:xfrm>
            <a:off x="868680" y="2057400"/>
            <a:ext cx="10454335" cy="4069080"/>
          </a:xfrm>
          <a:prstGeom prst="rect">
            <a:avLst/>
          </a:prstGeom>
          <a:noFill/>
          <a:ln/>
        </p:spPr>
        <p:txBody>
          <a:bodyPr wrap="square" lIns="0" tIns="0" rIns="0" bIns="0" rtlCol="0" anchor="t">
            <a:normAutofit/>
          </a:bodyPr>
          <a:lstStyle/>
          <a:p>
            <a:pPr indent="0" marL="0">
              <a:lnSpc>
                <a:spcPts val="1800"/>
              </a:lnSpc>
              <a:spcAft>
                <a:spcPts val="600"/>
              </a:spcAft>
              <a:buNone/>
            </a:pPr>
            <a:r>
              <a:rPr lang="en-US" sz="1350" dirty="0">
                <a:solidFill>
                  <a:srgbClr val="47444D"/>
                </a:solidFill>
                <a:latin typeface="Calibri" pitchFamily="34" charset="0"/>
                <a:ea typeface="Calibri" pitchFamily="34" charset="-122"/>
                <a:cs typeface="Calibri" pitchFamily="34" charset="-120"/>
              </a:rPr>
              <a:t>BLOCKED — aucune observation source. Le critère de complétude est sans appel : « aucun insight sans observation source ».</a:t>
            </a:r>
            <a:endParaRPr lang="en-US" sz="1350" dirty="0"/>
          </a:p>
          <a:p>
            <a:pPr indent="0" marL="0">
              <a:lnSpc>
                <a:spcPts val="1800"/>
              </a:lnSpc>
              <a:spcAft>
                <a:spcPts val="600"/>
              </a:spcAft>
              <a:buNone/>
            </a:pPr>
            <a:r>
              <a:rPr lang="en-US" sz="1350" dirty="0">
                <a:solidFill>
                  <a:srgbClr val="47444D"/>
                </a:solidFill>
                <a:latin typeface="Calibri" pitchFamily="34" charset="0"/>
                <a:ea typeface="Calibri" pitchFamily="34" charset="-122"/>
                <a:cs typeface="Calibri" pitchFamily="34" charset="-120"/>
              </a:rPr>
              <a:t>Et EX2.run_mode_solo ne s'applique pas ici. En SOLO, une information absente devient une hypothèse nommée — mais on ne convertit pas une observation manquante en observation hypothétique. WP-05 porte déjà les hypothèses ; leur point de test est cette recherche. Écrire ici des insights « probables » reviendrait à faire tester les hypothèses par celui qui les a écrites.</a:t>
            </a:r>
            <a:endParaRPr lang="en-US" sz="1350" dirty="0"/>
          </a:p>
        </p:txBody>
      </p:sp>
      <p:sp>
        <p:nvSpPr>
          <p:cNvPr id="6"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6C6873"/>
                </a:solidFill>
                <a:latin typeface="Calibri" pitchFamily="34" charset="0"/>
                <a:ea typeface="Calibri" pitchFamily="34" charset="-122"/>
                <a:cs typeface="Calibri" pitchFamily="34" charset="-120"/>
              </a:rPr>
              <a:t>Source : product/C1.3-parcours/research/research-plan.md</a:t>
            </a:r>
            <a:endParaRPr lang="en-US" sz="750" dirty="0"/>
          </a:p>
        </p:txBody>
      </p:sp>
      <p:sp>
        <p:nvSpPr>
          <p:cNvPr id="7"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6C6873"/>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F9"/>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6D3FD1"/>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6C6873"/>
                </a:solidFill>
                <a:latin typeface="Arial" pitchFamily="34" charset="0"/>
                <a:ea typeface="Arial" pitchFamily="34" charset="-122"/>
                <a:cs typeface="Arial" pitchFamily="34" charset="-120"/>
              </a:rPr>
              <a:t>C1.3  ·  WP-08 — RECHERCHE ET SYNTHÈSE UTILISATEUR · RESEARCH-PLAN.MD</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2A0F57"/>
                </a:solidFill>
                <a:latin typeface="Arial" pitchFamily="34" charset="0"/>
                <a:ea typeface="Arial" pitchFamily="34" charset="-122"/>
                <a:cs typeface="Arial" pitchFamily="34" charset="-120"/>
              </a:rPr>
              <a:t>PER-nn personas</a:t>
            </a:r>
            <a:endParaRPr lang="en-US" sz="2200" dirty="0"/>
          </a:p>
        </p:txBody>
      </p:sp>
      <p:sp>
        <p:nvSpPr>
          <p:cNvPr id="5" name="Text 3"/>
          <p:cNvSpPr txBox="1"/>
          <p:nvPr/>
        </p:nvSpPr>
        <p:spPr>
          <a:xfrm>
            <a:off x="868680" y="2057400"/>
            <a:ext cx="10454335" cy="4069080"/>
          </a:xfrm>
          <a:prstGeom prst="rect">
            <a:avLst/>
          </a:prstGeom>
          <a:noFill/>
          <a:ln/>
        </p:spPr>
        <p:txBody>
          <a:bodyPr wrap="square" lIns="0" tIns="0" rIns="0" bIns="0" rtlCol="0" anchor="t">
            <a:normAutofit/>
          </a:bodyPr>
          <a:lstStyle/>
          <a:p>
            <a:pPr indent="0" marL="0">
              <a:lnSpc>
                <a:spcPts val="1800"/>
              </a:lnSpc>
              <a:spcAft>
                <a:spcPts val="600"/>
              </a:spcAft>
              <a:buNone/>
            </a:pPr>
            <a:r>
              <a:rPr lang="en-US" sz="1350" dirty="0">
                <a:solidFill>
                  <a:srgbClr val="47444D"/>
                </a:solidFill>
                <a:latin typeface="Calibri" pitchFamily="34" charset="0"/>
                <a:ea typeface="Calibri" pitchFamily="34" charset="-122"/>
                <a:cs typeface="Calibri" pitchFamily="34" charset="-120"/>
              </a:rPr>
              <a:t>BLOCKED — chaque trait exige ≥ 2 observations, et il y en a zéro.</a:t>
            </a:r>
            <a:endParaRPr lang="en-US" sz="1350" dirty="0"/>
          </a:p>
          <a:p>
            <a:pPr indent="0" marL="0">
              <a:lnSpc>
                <a:spcPts val="1800"/>
              </a:lnSpc>
              <a:spcAft>
                <a:spcPts val="600"/>
              </a:spcAft>
              <a:buNone/>
            </a:pPr>
            <a:r>
              <a:rPr lang="en-US" sz="1350" dirty="0">
                <a:solidFill>
                  <a:srgbClr val="47444D"/>
                </a:solidFill>
                <a:latin typeface="Calibri" pitchFamily="34" charset="0"/>
                <a:ea typeface="Calibri" pitchFamily="34" charset="-122"/>
                <a:cs typeface="Calibri" pitchFamily="34" charset="-120"/>
              </a:rPr>
              <a:t>C'est le point où la méthode se fait tricher le plus facilement. Un persona inventé est crédible, utile en réunion, et il passe tous les contrôles de forme — il porte un nom, un âge, une citation. Ce qui en descend ne se distingue plus jamais de ce qui aurait été observé. Le squelette de parcours (WP-09, activité 5), la navigation et l'architecture de l'information (WP-11, CORE INVARIANT figé en G0) se construisent sur ces personas. Une invention ici se paie par une réouverture de G0, pas par une correction.</a:t>
            </a:r>
            <a:endParaRPr lang="en-US" sz="1350" dirty="0"/>
          </a:p>
        </p:txBody>
      </p:sp>
      <p:sp>
        <p:nvSpPr>
          <p:cNvPr id="6"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6C6873"/>
                </a:solidFill>
                <a:latin typeface="Calibri" pitchFamily="34" charset="0"/>
                <a:ea typeface="Calibri" pitchFamily="34" charset="-122"/>
                <a:cs typeface="Calibri" pitchFamily="34" charset="-120"/>
              </a:rPr>
              <a:t>Source : product/C1.3-parcours/research/research-plan.md</a:t>
            </a:r>
            <a:endParaRPr lang="en-US" sz="750" dirty="0"/>
          </a:p>
        </p:txBody>
      </p:sp>
      <p:sp>
        <p:nvSpPr>
          <p:cNvPr id="7"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6C6873"/>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F9"/>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6D3FD1"/>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6C6873"/>
                </a:solidFill>
                <a:latin typeface="Arial" pitchFamily="34" charset="0"/>
                <a:ea typeface="Arial" pitchFamily="34" charset="-122"/>
                <a:cs typeface="Arial" pitchFamily="34" charset="-120"/>
              </a:rPr>
              <a:t>C1.3  ·  WP-08 — RECHERCHE ET SYNTHÈSE UTILISATEUR · RESEARCH-PLAN.MD</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2A0F57"/>
                </a:solidFill>
                <a:latin typeface="Arial" pitchFamily="34" charset="0"/>
                <a:ea typeface="Arial" pitchFamily="34" charset="-122"/>
                <a:cs typeface="Arial" pitchFamily="34" charset="-120"/>
              </a:rPr>
              <a:t>Empathy maps</a:t>
            </a:r>
            <a:endParaRPr lang="en-US" sz="2200" dirty="0"/>
          </a:p>
        </p:txBody>
      </p:sp>
      <p:sp>
        <p:nvSpPr>
          <p:cNvPr id="5" name="Text 3"/>
          <p:cNvSpPr txBox="1"/>
          <p:nvPr/>
        </p:nvSpPr>
        <p:spPr>
          <a:xfrm>
            <a:off x="868680" y="2057400"/>
            <a:ext cx="10454335" cy="4069080"/>
          </a:xfrm>
          <a:prstGeom prst="rect">
            <a:avLst/>
          </a:prstGeom>
          <a:noFill/>
          <a:ln/>
        </p:spPr>
        <p:txBody>
          <a:bodyPr wrap="square" lIns="0" tIns="0" rIns="0" bIns="0" rtlCol="0" anchor="t">
            <a:normAutofit/>
          </a:bodyPr>
          <a:lstStyle/>
          <a:p>
            <a:pPr indent="0" marL="0">
              <a:lnSpc>
                <a:spcPts val="1800"/>
              </a:lnSpc>
              <a:spcAft>
                <a:spcPts val="600"/>
              </a:spcAft>
              <a:buNone/>
            </a:pPr>
            <a:r>
              <a:rPr lang="en-US" sz="1350" dirty="0">
                <a:solidFill>
                  <a:srgbClr val="47444D"/>
                </a:solidFill>
                <a:latin typeface="Calibri" pitchFamily="34" charset="0"/>
                <a:ea typeface="Calibri" pitchFamily="34" charset="-122"/>
                <a:cs typeface="Calibri" pitchFamily="34" charset="-120"/>
              </a:rPr>
              <a:t>BLOCKED. Règle du registre : « aucune projection non observée ; unknowns marqués ». Une empathy map sans observation n'est que projection.</a:t>
            </a:r>
            <a:endParaRPr lang="en-US" sz="1350" dirty="0"/>
          </a:p>
        </p:txBody>
      </p:sp>
      <p:sp>
        <p:nvSpPr>
          <p:cNvPr id="6"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6C6873"/>
                </a:solidFill>
                <a:latin typeface="Calibri" pitchFamily="34" charset="0"/>
                <a:ea typeface="Calibri" pitchFamily="34" charset="-122"/>
                <a:cs typeface="Calibri" pitchFamily="34" charset="-120"/>
              </a:rPr>
              <a:t>Source : product/C1.3-parcours/research/research-plan.md</a:t>
            </a:r>
            <a:endParaRPr lang="en-US" sz="750" dirty="0"/>
          </a:p>
        </p:txBody>
      </p:sp>
      <p:sp>
        <p:nvSpPr>
          <p:cNvPr id="7"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6C6873"/>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F9"/>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6D3FD1"/>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6C6873"/>
                </a:solidFill>
                <a:latin typeface="Arial" pitchFamily="34" charset="0"/>
                <a:ea typeface="Arial" pitchFamily="34" charset="-122"/>
                <a:cs typeface="Arial" pitchFamily="34" charset="-120"/>
              </a:rPr>
              <a:t>C1.3  ·  WP-08 — RECHERCHE ET SYNTHÈSE UTILISATEUR · RESEARCH-PLAN.MD</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2A0F57"/>
                </a:solidFill>
                <a:latin typeface="Arial" pitchFamily="34" charset="0"/>
                <a:ea typeface="Arial" pitchFamily="34" charset="-122"/>
                <a:cs typeface="Arial" pitchFamily="34" charset="-120"/>
              </a:rPr>
              <a:t>Journeys as-is et irritants</a:t>
            </a:r>
            <a:endParaRPr lang="en-US" sz="2200" dirty="0"/>
          </a:p>
        </p:txBody>
      </p:sp>
      <p:sp>
        <p:nvSpPr>
          <p:cNvPr id="5" name="Text 3"/>
          <p:cNvSpPr txBox="1"/>
          <p:nvPr/>
        </p:nvSpPr>
        <p:spPr>
          <a:xfrm>
            <a:off x="868680" y="2057400"/>
            <a:ext cx="10454335" cy="4069080"/>
          </a:xfrm>
          <a:prstGeom prst="rect">
            <a:avLst/>
          </a:prstGeom>
          <a:noFill/>
          <a:ln/>
        </p:spPr>
        <p:txBody>
          <a:bodyPr wrap="square" lIns="0" tIns="0" rIns="0" bIns="0" rtlCol="0" anchor="t">
            <a:normAutofit/>
          </a:bodyPr>
          <a:lstStyle/>
          <a:p>
            <a:pPr indent="0" marL="0">
              <a:lnSpc>
                <a:spcPts val="1800"/>
              </a:lnSpc>
              <a:spcAft>
                <a:spcPts val="600"/>
              </a:spcAft>
              <a:buNone/>
            </a:pPr>
            <a:r>
              <a:rPr lang="en-US" sz="1350" dirty="0">
                <a:solidFill>
                  <a:srgbClr val="47444D"/>
                </a:solidFill>
                <a:latin typeface="Calibri" pitchFamily="34" charset="0"/>
                <a:ea typeface="Calibri" pitchFamily="34" charset="-122"/>
                <a:cs typeface="Calibri" pitchFamily="34" charset="-120"/>
              </a:rPr>
              <a:t>BLOCKED. Chaque irritant doit être daté, sourcé et rattaché à un persona. Aucun des trois n'est disponible.</a:t>
            </a:r>
            <a:endParaRPr lang="en-US" sz="1350" dirty="0"/>
          </a:p>
          <a:p>
            <a:pPr indent="0" marL="0">
              <a:lnSpc>
                <a:spcPts val="1800"/>
              </a:lnSpc>
              <a:spcAft>
                <a:spcPts val="600"/>
              </a:spcAft>
              <a:buNone/>
            </a:pPr>
            <a:r>
              <a:rPr lang="en-US" sz="1350" dirty="0">
                <a:solidFill>
                  <a:srgbClr val="47444D"/>
                </a:solidFill>
                <a:latin typeface="Calibri" pitchFamily="34" charset="0"/>
                <a:ea typeface="Calibri" pitchFamily="34" charset="-122"/>
                <a:cs typeface="Calibri" pitchFamily="34" charset="-120"/>
              </a:rPr>
              <a:t>Ce qui rend cette section décisive. Le journey as-is est l'entrée directe du squelette de parcours cible (activité 5), lequel est figé en G0. Le bloc 1 du protocole — la reconstitution du dernier achat — est écrit précisément pour le produire : c'est pourquoi il demande un récit chronologique et non une liste d'opinions.</a:t>
            </a:r>
            <a:endParaRPr lang="en-US" sz="1350" dirty="0"/>
          </a:p>
          <a:p>
            <a:pPr indent="0" marL="0">
              <a:lnSpc>
                <a:spcPts val="1800"/>
              </a:lnSpc>
              <a:spcAft>
                <a:spcPts val="600"/>
              </a:spcAft>
              <a:buNone/>
            </a:pPr>
            <a:r>
              <a:rPr lang="en-US" sz="1350" dirty="0">
                <a:solidFill>
                  <a:srgbClr val="47444D"/>
                </a:solidFill>
                <a:latin typeface="Calibri" pitchFamily="34" charset="0"/>
                <a:ea typeface="Calibri" pitchFamily="34" charset="-122"/>
                <a:cs typeface="Calibri" pitchFamily="34" charset="-120"/>
              </a:rPr>
              <a:t>&lt;!-- Complétude : Aucun insight sans observation source. Niveau d'evidence étiqueté sur chaque résultat. Personas challengés par critic(product). --&gt;</a:t>
            </a:r>
            <a:endParaRPr lang="en-US" sz="1350" dirty="0"/>
          </a:p>
        </p:txBody>
      </p:sp>
      <p:sp>
        <p:nvSpPr>
          <p:cNvPr id="6"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6C6873"/>
                </a:solidFill>
                <a:latin typeface="Calibri" pitchFamily="34" charset="0"/>
                <a:ea typeface="Calibri" pitchFamily="34" charset="-122"/>
                <a:cs typeface="Calibri" pitchFamily="34" charset="-120"/>
              </a:rPr>
              <a:t>Source : product/C1.3-parcours/research/research-plan.md</a:t>
            </a:r>
            <a:endParaRPr lang="en-US" sz="750" dirty="0"/>
          </a:p>
        </p:txBody>
      </p:sp>
      <p:sp>
        <p:nvSpPr>
          <p:cNvPr id="7"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6C6873"/>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A0F57"/>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6D3FD1"/>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6C6873"/>
                </a:solidFill>
                <a:latin typeface="Arial" pitchFamily="34" charset="0"/>
                <a:ea typeface="Arial" pitchFamily="34" charset="-122"/>
                <a:cs typeface="Arial" pitchFamily="34" charset="-120"/>
              </a:rPr>
              <a:t>C1.3  ·  WP-08 — RECHERCHE ET SYNTHÈSE UTILISATEUR · RESEARCH-PLAN.MD</a:t>
            </a:r>
            <a:endParaRPr lang="en-US" sz="800" dirty="0"/>
          </a:p>
        </p:txBody>
      </p:sp>
      <p:sp>
        <p:nvSpPr>
          <p:cNvPr id="4" name="Text 2"/>
          <p:cNvSpPr txBox="1"/>
          <p:nvPr/>
        </p:nvSpPr>
        <p:spPr>
          <a:xfrm>
            <a:off x="868680" y="960120"/>
            <a:ext cx="10454335" cy="640080"/>
          </a:xfrm>
          <a:prstGeom prst="rect">
            <a:avLst/>
          </a:prstGeom>
          <a:noFill/>
          <a:ln/>
        </p:spPr>
        <p:txBody>
          <a:bodyPr wrap="square" lIns="0" tIns="0" rIns="0" bIns="0" rtlCol="0" anchor="t"/>
          <a:lstStyle/>
          <a:p>
            <a:pPr indent="0" marL="0">
              <a:lnSpc>
                <a:spcPts val="3200"/>
              </a:lnSpc>
              <a:buNone/>
            </a:pPr>
            <a:r>
              <a:rPr lang="en-US" sz="2400" b="1" dirty="0">
                <a:solidFill>
                  <a:srgbClr val="F6F4F9"/>
                </a:solidFill>
                <a:latin typeface="Arial" pitchFamily="34" charset="0"/>
                <a:ea typeface="Arial" pitchFamily="34" charset="-122"/>
                <a:cs typeface="Arial" pitchFamily="34" charset="-120"/>
              </a:rPr>
              <a:t>Ce qui reste à vérifier</a:t>
            </a:r>
            <a:endParaRPr lang="en-US" sz="2400" dirty="0"/>
          </a:p>
        </p:txBody>
      </p:sp>
      <p:sp>
        <p:nvSpPr>
          <p:cNvPr id="5" name="Text 3"/>
          <p:cNvSpPr txBox="1"/>
          <p:nvPr/>
        </p:nvSpPr>
        <p:spPr>
          <a:xfrm>
            <a:off x="7269480" y="1783080"/>
            <a:ext cx="3657600"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6D3FD1"/>
                </a:solidFill>
                <a:latin typeface="Arial" pitchFamily="34" charset="0"/>
                <a:ea typeface="Arial" pitchFamily="34" charset="-122"/>
                <a:cs typeface="Arial" pitchFamily="34" charset="-120"/>
              </a:rPr>
              <a:t>RÉSERVES DÉCLARÉES</a:t>
            </a:r>
            <a:endParaRPr lang="en-US" sz="800" dirty="0"/>
          </a:p>
        </p:txBody>
      </p:sp>
      <p:sp>
        <p:nvSpPr>
          <p:cNvPr id="6" name="Text 4"/>
          <p:cNvSpPr txBox="1"/>
          <p:nvPr/>
        </p:nvSpPr>
        <p:spPr>
          <a:xfrm>
            <a:off x="7269480" y="2103120"/>
            <a:ext cx="4053535" cy="3291840"/>
          </a:xfrm>
          <a:prstGeom prst="rect">
            <a:avLst/>
          </a:prstGeom>
          <a:noFill/>
          <a:ln/>
        </p:spPr>
        <p:txBody>
          <a:bodyPr wrap="square" lIns="0" tIns="0" rIns="0" bIns="0" rtlCol="0" anchor="t">
            <a:normAutofit/>
          </a:bodyPr>
          <a:lstStyle/>
          <a:p>
            <a:pPr marL="152400" indent="-152400">
              <a:lnSpc>
                <a:spcPts val="1300"/>
              </a:lnSpc>
              <a:spcAft>
                <a:spcPts val="600"/>
              </a:spcAft>
              <a:buSzPct val="100000"/>
              <a:buChar char="•"/>
            </a:pPr>
            <a:r>
              <a:rPr lang="en-US" sz="1000" dirty="0">
                <a:solidFill>
                  <a:srgbClr val="D9CCF5"/>
                </a:solidFill>
                <a:latin typeface="Calibri" pitchFamily="34" charset="0"/>
                <a:ea typeface="Calibri" pitchFamily="34" charset="-122"/>
                <a:cs typeface="Calibri" pitchFamily="34" charset="-120"/>
              </a:rPr>
              <a:t>Seul le PLAN DE RECHERCHE est produit. Les cinq autres sections — verbatims, insights, personas, empathy maps, journeys as-is — sont BLOCKED : elles exigent des participants, et aucun n'est recruté ni consentant.</a:t>
            </a:r>
            <a:endParaRPr lang="en-US" sz="1000" dirty="0"/>
          </a:p>
          <a:p>
            <a:pPr marL="152400" indent="-152400">
              <a:lnSpc>
                <a:spcPts val="1300"/>
              </a:lnSpc>
              <a:spcAft>
                <a:spcPts val="600"/>
              </a:spcAft>
              <a:buSzPct val="100000"/>
              <a:buChar char="•"/>
            </a:pPr>
            <a:r>
              <a:rPr lang="en-US" sz="1000" dirty="0">
                <a:solidFill>
                  <a:srgbClr val="D9CCF5"/>
                </a:solidFill>
                <a:latin typeface="Calibri" pitchFamily="34" charset="0"/>
                <a:ea typeface="Calibri" pitchFamily="34" charset="-122"/>
                <a:cs typeface="Calibri" pitchFamily="34" charset="-120"/>
              </a:rPr>
              <a:t>Le critère d'entrée de l'activité 4 exige « consentement des participants obtenu ». Il n'est pas satisfait au 2026-09-21.</a:t>
            </a:r>
            <a:endParaRPr lang="en-US" sz="1000" dirty="0"/>
          </a:p>
          <a:p>
            <a:pPr marL="152400" indent="-152400">
              <a:lnSpc>
                <a:spcPts val="1300"/>
              </a:lnSpc>
              <a:spcAft>
                <a:spcPts val="600"/>
              </a:spcAft>
              <a:buSzPct val="100000"/>
              <a:buChar char="•"/>
            </a:pPr>
            <a:r>
              <a:rPr lang="en-US" sz="1000" dirty="0">
                <a:solidFill>
                  <a:srgbClr val="D9CCF5"/>
                </a:solidFill>
                <a:latin typeface="Calibri" pitchFamily="34" charset="0"/>
                <a:ea typeface="Calibri" pitchFamily="34" charset="-122"/>
                <a:cs typeface="Calibri" pitchFamily="34" charset="-120"/>
              </a:rPr>
              <a:t>EX2 run_mode_solo NE S'APPLIQUE PAS ici : une observation absente ne devient pas une hypothèse nommée, elle reste absente. Un persona inventé passerait tous les contrôles de forme et ruinerait tout ce qui en descend.</a:t>
            </a:r>
            <a:endParaRPr lang="en-US" sz="1000" dirty="0"/>
          </a:p>
          <a:p>
            <a:pPr marL="152400" indent="-152400">
              <a:lnSpc>
                <a:spcPts val="1300"/>
              </a:lnSpc>
              <a:spcAft>
                <a:spcPts val="600"/>
              </a:spcAft>
              <a:buSzPct val="100000"/>
              <a:buChar char="•"/>
            </a:pPr>
            <a:r>
              <a:rPr lang="en-US" sz="1000" dirty="0">
                <a:solidFill>
                  <a:srgbClr val="D9CCF5"/>
                </a:solidFill>
                <a:latin typeface="Calibri" pitchFamily="34" charset="0"/>
                <a:ea typeface="Calibri" pitchFamily="34" charset="-122"/>
                <a:cs typeface="Calibri" pitchFamily="34" charset="-120"/>
              </a:rPr>
              <a:t>Le plan est FIGÉ PAR CE COMMIT. Toute modification après le premier entretien invalide la comparabilité entre participants et doit être déclarée comme un second protocole, jamais comme une correction.</a:t>
            </a:r>
            <a:endParaRPr lang="en-US" sz="1000" dirty="0"/>
          </a:p>
        </p:txBody>
      </p:sp>
      <p:sp>
        <p:nvSpPr>
          <p:cNvPr id="7"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6C6873"/>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F9"/>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6D3FD1"/>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6C6873"/>
                </a:solidFill>
                <a:latin typeface="Arial" pitchFamily="34" charset="0"/>
                <a:ea typeface="Arial" pitchFamily="34" charset="-122"/>
                <a:cs typeface="Arial" pitchFamily="34" charset="-120"/>
              </a:rPr>
              <a:t>C1.3  ·  WP-08 — RECHERCHE ET SYNTHÈSE UTILISATEUR · INSIGHTS.MD</a:t>
            </a:r>
            <a:endParaRPr lang="en-US" sz="800" dirty="0"/>
          </a:p>
        </p:txBody>
      </p:sp>
      <p:sp>
        <p:nvSpPr>
          <p:cNvPr id="4" name="Text 2"/>
          <p:cNvSpPr txBox="1"/>
          <p:nvPr/>
        </p:nvSpPr>
        <p:spPr>
          <a:xfrm>
            <a:off x="868680" y="960120"/>
            <a:ext cx="10454335" cy="1463040"/>
          </a:xfrm>
          <a:prstGeom prst="rect">
            <a:avLst/>
          </a:prstGeom>
          <a:noFill/>
          <a:ln/>
        </p:spPr>
        <p:txBody>
          <a:bodyPr wrap="square" lIns="0" tIns="0" rIns="0" bIns="0" rtlCol="0" anchor="t"/>
          <a:lstStyle/>
          <a:p>
            <a:pPr indent="0" marL="0">
              <a:lnSpc>
                <a:spcPts val="2800"/>
              </a:lnSpc>
              <a:buNone/>
            </a:pPr>
            <a:r>
              <a:rPr lang="en-US" sz="2400" b="1" spc="-30" kern="0" dirty="0">
                <a:solidFill>
                  <a:srgbClr val="2A0F57"/>
                </a:solidFill>
                <a:latin typeface="Arial" pitchFamily="34" charset="0"/>
                <a:ea typeface="Arial" pitchFamily="34" charset="-122"/>
                <a:cs typeface="Arial" pitchFamily="34" charset="-120"/>
              </a:rPr>
              <a:t>WP-08 — Recherche et synthèse utilisateur · insights.md</a:t>
            </a:r>
            <a:endParaRPr lang="en-US" sz="2400" dirty="0"/>
          </a:p>
        </p:txBody>
      </p:sp>
      <p:sp>
        <p:nvSpPr>
          <p:cNvPr id="5" name="Text 3"/>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6C6873"/>
                </a:solidFill>
                <a:latin typeface="Calibri" pitchFamily="34" charset="0"/>
                <a:ea typeface="Calibri" pitchFamily="34" charset="-122"/>
                <a:cs typeface="Calibri" pitchFamily="34" charset="-120"/>
              </a:rPr>
              <a:t>Source : product/C1.3-parcours/research/insights.md — livrable partiel, réserves en fin de document</a:t>
            </a:r>
            <a:endParaRPr lang="en-US" sz="750" dirty="0"/>
          </a:p>
        </p:txBody>
      </p:sp>
      <p:sp>
        <p:nvSpPr>
          <p:cNvPr id="6" name="Text 4"/>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6C6873"/>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F9"/>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6D3FD1"/>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6C6873"/>
                </a:solidFill>
                <a:latin typeface="Arial" pitchFamily="34" charset="0"/>
                <a:ea typeface="Arial" pitchFamily="34" charset="-122"/>
                <a:cs typeface="Arial" pitchFamily="34" charset="-120"/>
              </a:rPr>
              <a:t>C1.3  ·  WP-08 — RECHERCHE ET SYNTHÈSE UTILISATEUR · INSIGHTS.MD</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2A0F57"/>
                </a:solidFill>
                <a:latin typeface="Arial" pitchFamily="34" charset="0"/>
                <a:ea typeface="Arial" pitchFamily="34" charset="-122"/>
                <a:cs typeface="Arial" pitchFamily="34" charset="-120"/>
              </a:rPr>
              <a:t>Insights</a:t>
            </a:r>
            <a:endParaRPr lang="en-US" sz="2200" dirty="0"/>
          </a:p>
        </p:txBody>
      </p:sp>
      <p:sp>
        <p:nvSpPr>
          <p:cNvPr id="5" name="Text 3"/>
          <p:cNvSpPr txBox="1"/>
          <p:nvPr/>
        </p:nvSpPr>
        <p:spPr>
          <a:xfrm>
            <a:off x="868680" y="2057400"/>
            <a:ext cx="10454335" cy="4069080"/>
          </a:xfrm>
          <a:prstGeom prst="rect">
            <a:avLst/>
          </a:prstGeom>
          <a:noFill/>
          <a:ln/>
        </p:spPr>
        <p:txBody>
          <a:bodyPr wrap="square" lIns="0" tIns="0" rIns="0" bIns="0" rtlCol="0" anchor="t">
            <a:normAutofit/>
          </a:bodyPr>
          <a:lstStyle/>
          <a:p>
            <a:pPr indent="0" marL="0">
              <a:lnSpc>
                <a:spcPts val="1800"/>
              </a:lnSpc>
              <a:spcAft>
                <a:spcPts val="600"/>
              </a:spcAft>
              <a:buNone/>
            </a:pPr>
            <a:r>
              <a:rPr lang="en-US" sz="1200" dirty="0">
                <a:solidFill>
                  <a:srgbClr val="47444D"/>
                </a:solidFill>
                <a:latin typeface="Calibri" pitchFamily="34" charset="0"/>
                <a:ea typeface="Calibri" pitchFamily="34" charset="-122"/>
                <a:cs typeface="Calibri" pitchFamily="34" charset="-120"/>
              </a:rPr>
              <a:t>Aucun. BLOCKED — aucune observation source n'existe au 2026-09-21.</a:t>
            </a:r>
            <a:endParaRPr lang="en-US" sz="1200" dirty="0"/>
          </a:p>
          <a:p>
            <a:pPr indent="0" marL="0">
              <a:lnSpc>
                <a:spcPts val="1800"/>
              </a:lnSpc>
              <a:spcAft>
                <a:spcPts val="600"/>
              </a:spcAft>
              <a:buNone/>
            </a:pPr>
            <a:r>
              <a:rPr lang="en-US" sz="1200" dirty="0">
                <a:solidFill>
                  <a:srgbClr val="47444D"/>
                </a:solidFill>
                <a:latin typeface="Calibri" pitchFamily="34" charset="0"/>
                <a:ea typeface="Calibri" pitchFamily="34" charset="-122"/>
                <a:cs typeface="Calibri" pitchFamily="34" charset="-120"/>
              </a:rPr>
              <a:t>Le critère de complétude de WP-08 est sans appel : « aucun insight sans observation source ». Ce fichier existe pour porter le vide de manière déclarée, non pour le masquer.</a:t>
            </a:r>
            <a:endParaRPr lang="en-US" sz="1200" dirty="0"/>
          </a:p>
          <a:p>
            <a:pPr indent="0" marL="0">
              <a:lnSpc>
                <a:spcPts val="1800"/>
              </a:lnSpc>
              <a:spcAft>
                <a:spcPts val="600"/>
              </a:spcAft>
              <a:buNone/>
            </a:pPr>
            <a:r>
              <a:rPr lang="en-US" sz="1200" dirty="0">
                <a:solidFill>
                  <a:srgbClr val="47444D"/>
                </a:solidFill>
                <a:latin typeface="Calibri" pitchFamily="34" charset="0"/>
                <a:ea typeface="Calibri" pitchFamily="34" charset="-122"/>
                <a:cs typeface="Calibri" pitchFamily="34" charset="-120"/>
              </a:rPr>
              <a:t>Pourquoi il ne contient pas d'insights « provisoires ». EX2.run_mode_solo convertit un input absent en hypothèse nommée. Une observation absente ne se convertit pas : WP-05 porte déjà les hypothèses — HYP-02, HYP-03, HYP-04, HYP-09 — et leur point de test est cette recherche. Écrire ici des insights probables ferait tester les hypothèses par celui qui les a écrites, ce que K5 (Builder ≠ Judge) interdit au niveau des rôles et que rien n'empêche au niveau d'un fichier, sinon cette ligne.</a:t>
            </a:r>
            <a:endParaRPr lang="en-US" sz="1200" dirty="0"/>
          </a:p>
          <a:p>
            <a:pPr indent="0" marL="0">
              <a:lnSpc>
                <a:spcPts val="1800"/>
              </a:lnSpc>
              <a:spcAft>
                <a:spcPts val="600"/>
              </a:spcAft>
              <a:buNone/>
            </a:pPr>
            <a:r>
              <a:rPr lang="en-US" sz="1200" dirty="0">
                <a:solidFill>
                  <a:srgbClr val="47444D"/>
                </a:solidFill>
                <a:latin typeface="Calibri" pitchFamily="34" charset="0"/>
                <a:ea typeface="Calibri" pitchFamily="34" charset="-122"/>
                <a:cs typeface="Calibri" pitchFamily="34" charset="-120"/>
              </a:rPr>
              <a:t>Ce que ce fichier contiendra. Un insight par entrée, chacun portant : l'énoncé, les identifiants des participants qui le fondent — deux au minimum —, le verbatim de chacun, la date de l'entretien, l'hypothèse de WP-05 qu'il confirme ou réfute, et son niveau d'evidence selon le barème arrêté dans research-plan.md.</a:t>
            </a:r>
            <a:endParaRPr lang="en-US" sz="1200" dirty="0"/>
          </a:p>
          <a:p>
            <a:pPr indent="0" marL="0">
              <a:lnSpc>
                <a:spcPts val="1800"/>
              </a:lnSpc>
              <a:spcAft>
                <a:spcPts val="600"/>
              </a:spcAft>
              <a:buNone/>
            </a:pPr>
            <a:r>
              <a:rPr lang="en-US" sz="1200" dirty="0">
                <a:solidFill>
                  <a:srgbClr val="47444D"/>
                </a:solidFill>
                <a:latin typeface="Calibri" pitchFamily="34" charset="0"/>
                <a:ea typeface="Calibri" pitchFamily="34" charset="-122"/>
                <a:cs typeface="Calibri" pitchFamily="34" charset="-120"/>
              </a:rPr>
              <a:t>&lt;!-- Complétude : Aucun insight sans observation source. Niveau d'evidence étiqueté sur chaque résultat. Personas challengés par critic(product). --&gt;</a:t>
            </a:r>
            <a:endParaRPr lang="en-US" sz="1200" dirty="0"/>
          </a:p>
        </p:txBody>
      </p:sp>
      <p:sp>
        <p:nvSpPr>
          <p:cNvPr id="6"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6C6873"/>
                </a:solidFill>
                <a:latin typeface="Calibri" pitchFamily="34" charset="0"/>
                <a:ea typeface="Calibri" pitchFamily="34" charset="-122"/>
                <a:cs typeface="Calibri" pitchFamily="34" charset="-120"/>
              </a:rPr>
              <a:t>Source : product/C1.3-parcours/research/insights.md</a:t>
            </a:r>
            <a:endParaRPr lang="en-US" sz="750" dirty="0"/>
          </a:p>
        </p:txBody>
      </p:sp>
      <p:sp>
        <p:nvSpPr>
          <p:cNvPr id="7"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6C6873"/>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A0F57"/>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6D3FD1"/>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6C6873"/>
                </a:solidFill>
                <a:latin typeface="Arial" pitchFamily="34" charset="0"/>
                <a:ea typeface="Arial" pitchFamily="34" charset="-122"/>
                <a:cs typeface="Arial" pitchFamily="34" charset="-120"/>
              </a:rPr>
              <a:t>C1.3  ·  WP-08 — RECHERCHE ET SYNTHÈSE UTILISATEUR · INSIGHTS.MD</a:t>
            </a:r>
            <a:endParaRPr lang="en-US" sz="800" dirty="0"/>
          </a:p>
        </p:txBody>
      </p:sp>
      <p:sp>
        <p:nvSpPr>
          <p:cNvPr id="4" name="Text 2"/>
          <p:cNvSpPr txBox="1"/>
          <p:nvPr/>
        </p:nvSpPr>
        <p:spPr>
          <a:xfrm>
            <a:off x="868680" y="960120"/>
            <a:ext cx="10454335" cy="640080"/>
          </a:xfrm>
          <a:prstGeom prst="rect">
            <a:avLst/>
          </a:prstGeom>
          <a:noFill/>
          <a:ln/>
        </p:spPr>
        <p:txBody>
          <a:bodyPr wrap="square" lIns="0" tIns="0" rIns="0" bIns="0" rtlCol="0" anchor="t"/>
          <a:lstStyle/>
          <a:p>
            <a:pPr indent="0" marL="0">
              <a:lnSpc>
                <a:spcPts val="3200"/>
              </a:lnSpc>
              <a:buNone/>
            </a:pPr>
            <a:r>
              <a:rPr lang="en-US" sz="2400" b="1" dirty="0">
                <a:solidFill>
                  <a:srgbClr val="F6F4F9"/>
                </a:solidFill>
                <a:latin typeface="Arial" pitchFamily="34" charset="0"/>
                <a:ea typeface="Arial" pitchFamily="34" charset="-122"/>
                <a:cs typeface="Arial" pitchFamily="34" charset="-120"/>
              </a:rPr>
              <a:t>Ce qui reste à vérifier</a:t>
            </a:r>
            <a:endParaRPr lang="en-US" sz="2400" dirty="0"/>
          </a:p>
        </p:txBody>
      </p:sp>
      <p:sp>
        <p:nvSpPr>
          <p:cNvPr id="5" name="Text 3"/>
          <p:cNvSpPr txBox="1"/>
          <p:nvPr/>
        </p:nvSpPr>
        <p:spPr>
          <a:xfrm>
            <a:off x="7269480" y="1783080"/>
            <a:ext cx="3657600"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6D3FD1"/>
                </a:solidFill>
                <a:latin typeface="Arial" pitchFamily="34" charset="0"/>
                <a:ea typeface="Arial" pitchFamily="34" charset="-122"/>
                <a:cs typeface="Arial" pitchFamily="34" charset="-120"/>
              </a:rPr>
              <a:t>RÉSERVES DÉCLARÉES</a:t>
            </a:r>
            <a:endParaRPr lang="en-US" sz="800" dirty="0"/>
          </a:p>
        </p:txBody>
      </p:sp>
      <p:sp>
        <p:nvSpPr>
          <p:cNvPr id="6" name="Text 4"/>
          <p:cNvSpPr txBox="1"/>
          <p:nvPr/>
        </p:nvSpPr>
        <p:spPr>
          <a:xfrm>
            <a:off x="7269480" y="2103120"/>
            <a:ext cx="4053535" cy="3291840"/>
          </a:xfrm>
          <a:prstGeom prst="rect">
            <a:avLst/>
          </a:prstGeom>
          <a:noFill/>
          <a:ln/>
        </p:spPr>
        <p:txBody>
          <a:bodyPr wrap="square" lIns="0" tIns="0" rIns="0" bIns="0" rtlCol="0" anchor="t">
            <a:normAutofit/>
          </a:bodyPr>
          <a:lstStyle/>
          <a:p>
            <a:pPr marL="152400" indent="-152400">
              <a:lnSpc>
                <a:spcPts val="1300"/>
              </a:lnSpc>
              <a:spcAft>
                <a:spcPts val="600"/>
              </a:spcAft>
              <a:buSzPct val="100000"/>
              <a:buChar char="•"/>
            </a:pPr>
            <a:r>
              <a:rPr lang="en-US" sz="1000" dirty="0">
                <a:solidFill>
                  <a:srgbClr val="D9CCF5"/>
                </a:solidFill>
                <a:latin typeface="Calibri" pitchFamily="34" charset="0"/>
                <a:ea typeface="Calibri" pitchFamily="34" charset="-122"/>
                <a:cs typeface="Calibri" pitchFamily="34" charset="-120"/>
              </a:rPr>
              <a:t>Seul le PLAN DE RECHERCHE est produit. Les cinq autres sections — verbatims, insights, personas, empathy maps, journeys as-is — sont BLOCKED : elles exigent des participants, et aucun n'est recruté ni consentant.</a:t>
            </a:r>
            <a:endParaRPr lang="en-US" sz="1000" dirty="0"/>
          </a:p>
          <a:p>
            <a:pPr marL="152400" indent="-152400">
              <a:lnSpc>
                <a:spcPts val="1300"/>
              </a:lnSpc>
              <a:spcAft>
                <a:spcPts val="600"/>
              </a:spcAft>
              <a:buSzPct val="100000"/>
              <a:buChar char="•"/>
            </a:pPr>
            <a:r>
              <a:rPr lang="en-US" sz="1000" dirty="0">
                <a:solidFill>
                  <a:srgbClr val="D9CCF5"/>
                </a:solidFill>
                <a:latin typeface="Calibri" pitchFamily="34" charset="0"/>
                <a:ea typeface="Calibri" pitchFamily="34" charset="-122"/>
                <a:cs typeface="Calibri" pitchFamily="34" charset="-120"/>
              </a:rPr>
              <a:t>Le critère d'entrée de l'activité 4 exige « consentement des participants obtenu ». Il n'est pas satisfait au 2026-09-21.</a:t>
            </a:r>
            <a:endParaRPr lang="en-US" sz="1000" dirty="0"/>
          </a:p>
          <a:p>
            <a:pPr marL="152400" indent="-152400">
              <a:lnSpc>
                <a:spcPts val="1300"/>
              </a:lnSpc>
              <a:spcAft>
                <a:spcPts val="600"/>
              </a:spcAft>
              <a:buSzPct val="100000"/>
              <a:buChar char="•"/>
            </a:pPr>
            <a:r>
              <a:rPr lang="en-US" sz="1000" dirty="0">
                <a:solidFill>
                  <a:srgbClr val="D9CCF5"/>
                </a:solidFill>
                <a:latin typeface="Calibri" pitchFamily="34" charset="0"/>
                <a:ea typeface="Calibri" pitchFamily="34" charset="-122"/>
                <a:cs typeface="Calibri" pitchFamily="34" charset="-120"/>
              </a:rPr>
              <a:t>EX2 run_mode_solo NE S'APPLIQUE PAS ici : une observation absente ne devient pas une hypothèse nommée, elle reste absente. Un persona inventé passerait tous les contrôles de forme et ruinerait tout ce qui en descend.</a:t>
            </a:r>
            <a:endParaRPr lang="en-US" sz="1000" dirty="0"/>
          </a:p>
          <a:p>
            <a:pPr marL="152400" indent="-152400">
              <a:lnSpc>
                <a:spcPts val="1300"/>
              </a:lnSpc>
              <a:spcAft>
                <a:spcPts val="600"/>
              </a:spcAft>
              <a:buSzPct val="100000"/>
              <a:buChar char="•"/>
            </a:pPr>
            <a:r>
              <a:rPr lang="en-US" sz="1000" dirty="0">
                <a:solidFill>
                  <a:srgbClr val="D9CCF5"/>
                </a:solidFill>
                <a:latin typeface="Calibri" pitchFamily="34" charset="0"/>
                <a:ea typeface="Calibri" pitchFamily="34" charset="-122"/>
                <a:cs typeface="Calibri" pitchFamily="34" charset="-120"/>
              </a:rPr>
              <a:t>Le plan est FIGÉ PAR CE COMMIT. Toute modification après le premier entretien invalide la comparabilité entre participants et doit être déclarée comme un second protocole, jamais comme une correction.</a:t>
            </a:r>
            <a:endParaRPr lang="en-US" sz="1000" dirty="0"/>
          </a:p>
        </p:txBody>
      </p:sp>
      <p:sp>
        <p:nvSpPr>
          <p:cNvPr id="7"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6C6873"/>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Ouazzani design — Recherche et synthèse utilisateur</dc:title>
  <dc:subject>PptxGenJS Presentation</dc:subject>
  <dc:creator>PptxGenJS</dc:creator>
  <cp:lastModifiedBy>PptxGenJS</cp:lastModifiedBy>
  <cp:revision>1</cp:revision>
  <dcterms:created xsi:type="dcterms:W3CDTF">2026-10-09T22:11:08Z</dcterms:created>
  <dcterms:modified xsi:type="dcterms:W3CDTF">2026-10-09T22:11:08Z</dcterms:modified>
</cp:coreProperties>
</file>