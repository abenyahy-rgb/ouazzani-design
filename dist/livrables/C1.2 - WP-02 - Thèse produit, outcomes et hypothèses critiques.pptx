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868680" y="1097280"/>
            <a:ext cx="384048" cy="32004"/>
          </a:xfrm>
          <a:prstGeom prst="rect">
            <a:avLst/>
          </a:prstGeom>
          <a:solidFill>
            <a:srgbClr val="D98324"/>
          </a:solidFill>
          <a:ln/>
        </p:spPr>
      </p:sp>
      <p:sp>
        <p:nvSpPr>
          <p:cNvPr id="3" name="Text 1"/>
          <p:cNvSpPr txBox="1"/>
          <p:nvPr/>
        </p:nvSpPr>
        <p:spPr>
          <a:xfrm>
            <a:off x="868680" y="1207008"/>
            <a:ext cx="7315200"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8C8478"/>
                </a:solidFill>
                <a:latin typeface="Arial" pitchFamily="34" charset="0"/>
                <a:ea typeface="Arial" pitchFamily="34" charset="-122"/>
                <a:cs typeface="Arial" pitchFamily="34" charset="-120"/>
              </a:rPr>
              <a:t>OUAZZANI DESIGN  ·  C1.2  ·  STRATÉGIE PRODUIT</a:t>
            </a:r>
            <a:endParaRPr lang="en-US" sz="800" dirty="0"/>
          </a:p>
        </p:txBody>
      </p:sp>
      <p:sp>
        <p:nvSpPr>
          <p:cNvPr id="4" name="Text 2"/>
          <p:cNvSpPr txBox="1"/>
          <p:nvPr/>
        </p:nvSpPr>
        <p:spPr>
          <a:xfrm>
            <a:off x="868680" y="2103120"/>
            <a:ext cx="6949440" cy="1828800"/>
          </a:xfrm>
          <a:prstGeom prst="rect">
            <a:avLst/>
          </a:prstGeom>
          <a:noFill/>
          <a:ln/>
        </p:spPr>
        <p:txBody>
          <a:bodyPr wrap="square" lIns="0" tIns="0" rIns="0" bIns="0" rtlCol="0" anchor="t"/>
          <a:lstStyle/>
          <a:p>
            <a:pPr indent="0" marL="0">
              <a:lnSpc>
                <a:spcPts val="5100"/>
              </a:lnSpc>
              <a:buNone/>
            </a:pPr>
            <a:r>
              <a:rPr lang="en-US" sz="4600" b="1" spc="-80" kern="0" dirty="0">
                <a:solidFill>
                  <a:srgbClr val="F1ECE3"/>
                </a:solidFill>
                <a:latin typeface="Arial" pitchFamily="34" charset="0"/>
                <a:ea typeface="Arial" pitchFamily="34" charset="-122"/>
                <a:cs typeface="Arial" pitchFamily="34" charset="-120"/>
              </a:rPr>
              <a:t>Thèse produit, outcomes et hypothèses critiques</a:t>
            </a:r>
            <a:endParaRPr lang="en-US" sz="4600" dirty="0"/>
          </a:p>
        </p:txBody>
      </p:sp>
      <p:sp>
        <p:nvSpPr>
          <p:cNvPr id="5" name="Text 3"/>
          <p:cNvSpPr txBox="1"/>
          <p:nvPr/>
        </p:nvSpPr>
        <p:spPr>
          <a:xfrm>
            <a:off x="868680" y="4069080"/>
            <a:ext cx="6035040" cy="822960"/>
          </a:xfrm>
          <a:prstGeom prst="rect">
            <a:avLst/>
          </a:prstGeom>
          <a:noFill/>
          <a:ln/>
        </p:spPr>
        <p:txBody>
          <a:bodyPr wrap="square" lIns="0" tIns="0" rIns="0" bIns="0" rtlCol="0" anchor="t"/>
          <a:lstStyle/>
          <a:p>
            <a:pPr indent="0" marL="0">
              <a:lnSpc>
                <a:spcPts val="2000"/>
              </a:lnSpc>
              <a:buNone/>
            </a:pPr>
            <a:r>
              <a:rPr lang="en-US" sz="1400" dirty="0">
                <a:solidFill>
                  <a:srgbClr val="C6BFB3"/>
                </a:solidFill>
                <a:latin typeface="Calibri" pitchFamily="34" charset="0"/>
                <a:ea typeface="Calibri" pitchFamily="34" charset="-122"/>
                <a:cs typeface="Calibri" pitchFamily="34" charset="-120"/>
              </a:rPr>
              <a:t>0 livrables sur 0, chacun présenté dans le format qui fait référence pour sa question. 0 planche(s) de format vérifiées par le calcul.</a:t>
            </a:r>
            <a:endParaRPr lang="en-US" sz="1400" dirty="0"/>
          </a:p>
        </p:txBody>
      </p:sp>
      <p:sp>
        <p:nvSpPr>
          <p:cNvPr id="6" name="Text 4"/>
          <p:cNvSpPr txBox="1"/>
          <p:nvPr/>
        </p:nvSpPr>
        <p:spPr>
          <a:xfrm>
            <a:off x="868680" y="5989320"/>
            <a:ext cx="7315200" cy="274320"/>
          </a:xfrm>
          <a:prstGeom prst="rect">
            <a:avLst/>
          </a:prstGeom>
          <a:noFill/>
          <a:ln/>
        </p:spPr>
        <p:txBody>
          <a:bodyPr wrap="square" lIns="0" tIns="0" rIns="0" bIns="0" rtlCol="0" anchor="t"/>
          <a:lstStyle/>
          <a:p>
            <a:pPr indent="0" marL="0">
              <a:lnSpc>
                <a:spcPts val="1300"/>
              </a:lnSpc>
              <a:buNone/>
            </a:pPr>
            <a:r>
              <a:rPr lang="en-US" sz="950" dirty="0">
                <a:solidFill>
                  <a:srgbClr val="8C8478"/>
                </a:solidFill>
                <a:latin typeface="Calibri" pitchFamily="34" charset="0"/>
                <a:ea typeface="Calibri" pitchFamily="34" charset="-122"/>
                <a:cs typeface="Calibri" pitchFamily="34" charset="-120"/>
              </a:rPr>
              <a:t>Livrable partiel · projection du dépôt  ·  2026-10-08</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WP-03 — THÈSE PRODUIT</a:t>
            </a:r>
            <a:endParaRPr lang="en-US" sz="800" dirty="0"/>
          </a:p>
        </p:txBody>
      </p:sp>
      <p:sp>
        <p:nvSpPr>
          <p:cNvPr id="4" name="Text 2"/>
          <p:cNvSpPr txBox="1"/>
          <p:nvPr/>
        </p:nvSpPr>
        <p:spPr>
          <a:xfrm>
            <a:off x="868680" y="960120"/>
            <a:ext cx="10454335" cy="1463040"/>
          </a:xfrm>
          <a:prstGeom prst="rect">
            <a:avLst/>
          </a:prstGeom>
          <a:noFill/>
          <a:ln/>
        </p:spPr>
        <p:txBody>
          <a:bodyPr wrap="square" lIns="0" tIns="0" rIns="0" bIns="0" rtlCol="0" anchor="t"/>
          <a:lstStyle/>
          <a:p>
            <a:pPr indent="0" marL="0">
              <a:lnSpc>
                <a:spcPts val="2800"/>
              </a:lnSpc>
              <a:buNone/>
            </a:pPr>
            <a:r>
              <a:rPr lang="en-US" sz="2400" b="1" spc="-30" kern="0" dirty="0">
                <a:solidFill>
                  <a:srgbClr val="0F1318"/>
                </a:solidFill>
                <a:latin typeface="Arial" pitchFamily="34" charset="0"/>
                <a:ea typeface="Arial" pitchFamily="34" charset="-122"/>
                <a:cs typeface="Arial" pitchFamily="34" charset="-120"/>
              </a:rPr>
              <a:t>WP-03 — Thèse produit</a:t>
            </a:r>
            <a:endParaRPr lang="en-US" sz="2400" dirty="0"/>
          </a:p>
        </p:txBody>
      </p:sp>
      <p:sp>
        <p:nvSpPr>
          <p:cNvPr id="5" name="Text 3"/>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product/C1.2-strategie/strategy/product-thesis.md — livrable partiel, réserves en fin de document</a:t>
            </a:r>
            <a:endParaRPr lang="en-US" sz="750" dirty="0"/>
          </a:p>
        </p:txBody>
      </p:sp>
      <p:sp>
        <p:nvSpPr>
          <p:cNvPr id="6" name="Text 4"/>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WP-03 — THÈSE PRODUIT</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Problème</a:t>
            </a:r>
            <a:endParaRPr lang="en-US" sz="2200" dirty="0"/>
          </a:p>
        </p:txBody>
      </p:sp>
      <p:sp>
        <p:nvSpPr>
          <p:cNvPr id="5" name="Text 3"/>
          <p:cNvSpPr txBox="1"/>
          <p:nvPr/>
        </p:nvSpPr>
        <p:spPr>
          <a:xfrm>
            <a:off x="868680" y="2057400"/>
            <a:ext cx="10454335" cy="1267097"/>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Ce qui a été dit, littéralement — A. Benyahya, Product Owner, 2026-09-21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 je veux monter un site de vente de raquettes de padel au maroc je suis l'owner du site et</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je veux avoir la possibilité d'une dashboard pour piloter les ventes, les commandes se gerent</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en paiement à la livraison avec reception d'information sur telegram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Ce que cet énoncé est, et ce qu'il n'est pas. C'est une solution, décrite avec son canal,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Le client est le sponsor lui-même — …</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68680" y="3461657"/>
          <a:ext cx="9144000" cy="914400"/>
        </p:xfrm>
        <a:graphic>
          <a:graphicData uri="http://schemas.openxmlformats.org/drawingml/2006/table">
            <a:tbl>
              <a:tblPr/>
              <a:tblGrid>
                <a:gridCol w="2333557"/>
                <a:gridCol w="6533960"/>
                <a:gridCol w="1026765"/>
                <a:gridCol w="560054"/>
              </a:tblGrid>
              <a:tr h="0">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VOLET DU PROBLÈME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ÉNONCÉ</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ÉTIQUETTE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TRACE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De qui</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Un joueur de padel au Maroc qui veut acheter une raquette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UNVALIDATED</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HYP-01</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Comment on le sait</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On ne le sait pas. Le sponsor est le seul informant, et il est le vendeur, pas l'acheteur</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UNVALIDATED</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HYP-01</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Ce qu'il fait aujourd'hui</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Q2 sans réponse. Candidats non départagés : grande surface de sport, vendeur Instagram/WhatsApp, achat en club, import personnel, voyage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UNVALIDATED</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HYP-02</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Ce que ça lui coûte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Q2 sans réponse. Délai, prix, incertitude sur l'authenticité, impossibilité d'essayer — aucun chiffré</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UNVALIDATED</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HYP-03</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product/C1.2-strategie/strategy/product-thesis.md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WP-03 — THÈSE PRODUIT</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Cible</a:t>
            </a:r>
            <a:endParaRPr lang="en-US" sz="2200" dirty="0"/>
          </a:p>
        </p:txBody>
      </p:sp>
      <p:sp>
        <p:nvSpPr>
          <p:cNvPr id="5" name="Text 3"/>
          <p:cNvSpPr txBox="1"/>
          <p:nvPr/>
        </p:nvSpPr>
        <p:spPr>
          <a:xfrm>
            <a:off x="868680" y="2057400"/>
            <a:ext cx="10454335" cy="4069080"/>
          </a:xfrm>
          <a:prstGeom prst="rect">
            <a:avLst/>
          </a:prstGeom>
          <a:noFill/>
          <a:ln/>
        </p:spPr>
        <p:txBody>
          <a:bodyPr wrap="square" lIns="0" tIns="0" rIns="0" bIns="0" rtlCol="0" anchor="t">
            <a:normAutofit/>
          </a:bodyPr>
          <a:lstStyle/>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Ce produit a deux utilisateurs, et l'un d'eux est le sponsor. Les confondre est le défaut le plus courant de cette classe de produit — et le plus coûteux, parce que l'utilisateur qui sait dire ce qu'il veut est celui dont la satisfaction ne fait pas vivre le produit.</a:t>
            </a:r>
            <a:endParaRPr lang="en-US" sz="1200" dirty="0"/>
          </a:p>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Cible A — l'acheteur. Une personne descriptible : joueur de padel au Maroc, pratiquant en club, qui remplace ou achète une raquette. Ni son nombre, ni sa répartition géographique, ni son pouvoir d'achat, ni son mode d'accès actuel ne sont établis — Q3 est sans réponse.</a:t>
            </a:r>
            <a:endParaRPr lang="en-US" sz="1200" dirty="0"/>
          </a:p>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UNVALIDATED, HYP-01 et HYP-04. C'est la cible dont dépend l'existence du produit.</a:t>
            </a:r>
            <a:endParaRPr lang="en-US" sz="1200" dirty="0"/>
          </a:p>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Cible B — l'opérateur. A. Benyahya, propriétaire et, en l'état, unique exploitant. Une personne, connue, disponible. C'est l'utilisateur du tableau de bord et du canal Telegram. Son existence est un FAIT ; sa capacité de traitement — combien de commandes par jour une seule personne absorbe — est UNVALIDATED, HYP-07.</a:t>
            </a:r>
            <a:endParaRPr lang="en-US" sz="1200" dirty="0"/>
          </a:p>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Comment on atteint la cible A : non établi. Aucun canal d'acquisition n'a été évoqué. Un site sans canal d'acquisition est une vitrine dans un désert ; c'est HYP-04, et c'est un UNVALIDATED qui décide du produit autant que le produit lui-même.</a:t>
            </a:r>
            <a:endParaRPr lang="en-US" sz="1200" dirty="0"/>
          </a:p>
        </p:txBody>
      </p:sp>
      <p:sp>
        <p:nvSpPr>
          <p:cNvPr id="6"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product/C1.2-strategie/strategy/product-thesis.md</a:t>
            </a:r>
            <a:endParaRPr lang="en-US" sz="75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WP-03 — THÈSE PRODUIT</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Proposition de valeur</a:t>
            </a:r>
            <a:endParaRPr lang="en-US" sz="2200" dirty="0"/>
          </a:p>
        </p:txBody>
      </p:sp>
      <p:sp>
        <p:nvSpPr>
          <p:cNvPr id="5" name="Text 3"/>
          <p:cNvSpPr txBox="1"/>
          <p:nvPr/>
        </p:nvSpPr>
        <p:spPr>
          <a:xfrm>
            <a:off x="868680" y="2057400"/>
            <a:ext cx="10454335" cy="4069080"/>
          </a:xfrm>
          <a:prstGeom prst="rect">
            <a:avLst/>
          </a:prstGeom>
          <a:noFill/>
          <a:ln/>
        </p:spPr>
        <p:txBody>
          <a:bodyPr wrap="square" lIns="0" tIns="0" rIns="0" bIns="0" rtlCol="0" anchor="t">
            <a:normAutofit/>
          </a:bodyPr>
          <a:lstStyle/>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Ce qui change le lendemain, pour l'acheteur — UNVALIDATED, HYP-02/HYP-03 : il commande une raquette identifiée, à un prix affiché, et la paie à la livraison sans avancer d'argent ni négocier par messagerie. Ce qu'il arrête de faire : reconstituer une offre par Instagram, WhatsApp ou le bouche-à-oreille de club.</a:t>
            </a:r>
            <a:endParaRPr lang="en-US" sz="1200" dirty="0"/>
          </a:p>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Ce qui change le lendemain, pour l'opérateur — FAIT quant à l'intention : il reçoit chaque commande sur Telegram et lit l'état de ses ventes sur un tableau de bord. **Ce qu'il arrête de faire** : reconstituer cet état de mémoire ou dans un tableur.</a:t>
            </a:r>
            <a:endParaRPr lang="en-US" sz="1200" dirty="0"/>
          </a:p>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La tension centrale, et elle est structurelle. Le paiement à la livraison déplace le risque du client vers le vendeur : l'acheteur ne s'engage financièrement qu'au moment de recevoir, et peut refuser. La proposition de valeur côté acheteur repose sur ce mécanisme — c'est précisément ce qui lève sa méfiance — et l'économie du produit en dépend en sens inverse. Ce n'est pas un détail d'implémentation mentionné en passant : c'est le choix qui décide si ce produit gagne de l'argent. HYP-05.</a:t>
            </a:r>
            <a:endParaRPr lang="en-US" sz="1200" dirty="0"/>
          </a:p>
        </p:txBody>
      </p:sp>
      <p:sp>
        <p:nvSpPr>
          <p:cNvPr id="6"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product/C1.2-strategie/strategy/product-thesis.md</a:t>
            </a:r>
            <a:endParaRPr lang="en-US" sz="75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WP-03 — THÈSE PRODUIT</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Alternative et statu quo</a:t>
            </a:r>
            <a:endParaRPr lang="en-US" sz="2200" dirty="0"/>
          </a:p>
        </p:txBody>
      </p:sp>
      <p:sp>
        <p:nvSpPr>
          <p:cNvPr id="5" name="Text 3"/>
          <p:cNvSpPr txBox="1"/>
          <p:nvPr/>
        </p:nvSpPr>
        <p:spPr>
          <a:xfrm>
            <a:off x="868680" y="2057400"/>
            <a:ext cx="10454335" cy="4069080"/>
          </a:xfrm>
          <a:prstGeom prst="rect">
            <a:avLst/>
          </a:prstGeom>
          <a:noFill/>
          <a:ln/>
        </p:spPr>
        <p:txBody>
          <a:bodyPr wrap="square" lIns="0" tIns="0" rIns="0" bIns="0" rtlCol="0" anchor="t">
            <a:normAutofit/>
          </a:bodyPr>
          <a:lstStyle/>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Ce qui se passe si on ne fait rien. Le sponsor ne vend pas de raquettes ; l'acheteur continue de faire ce qu'il fait — que nous ne savons pas. Le statu quo n'est donc pas documenté, il est supposé.</a:t>
            </a:r>
            <a:endParaRPr lang="en-US" sz="1200" dirty="0"/>
          </a:p>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Qui d'autre résout ça. Non établi. Des catégories d'alternatives sont plausibles — grandes surfaces de sport présentes au Maroc, revendeurs sur réseaux sociaux, boutiques de clubs, marketplaces généralistes, sites étrangers livrant au Maroc. **Aucune n'est vérifiée, aucune n'est citée, et je n'en nomme aucune.** La recherche web est accordée aux activités 3, 4, 9 et 27 ; l'activité 2 ne la porte pas, et le registre en donne le motif : chercher depuis l'activité où l'on rédige sert à justifier ce qu'on vient d'écrire. UNVALIDATED, HYP-06 — point de test à l'activité 3 (WP-06, profil de domaine et sources approuvées).</a:t>
            </a:r>
            <a:endParaRPr lang="en-US" sz="1200" dirty="0"/>
          </a:p>
          <a:p>
            <a:pPr indent="0" marL="0">
              <a:lnSpc>
                <a:spcPts val="1800"/>
              </a:lnSpc>
              <a:spcAft>
                <a:spcPts val="600"/>
              </a:spcAft>
              <a:buNone/>
            </a:pPr>
            <a:r>
              <a:rPr lang="en-US" sz="1200" dirty="0">
                <a:solidFill>
                  <a:srgbClr val="4A453E"/>
                </a:solidFill>
                <a:latin typeface="Calibri" pitchFamily="34" charset="0"/>
                <a:ea typeface="Calibri" pitchFamily="34" charset="-122"/>
                <a:cs typeface="Calibri" pitchFamily="34" charset="-120"/>
              </a:rPr>
              <a:t>Pourquoi celle-ci gagnerait. Aucune raison établie. Les avantages candidats — spécialisation sur une catégorie unique, prix affiché, paiement à la livraison, conseil d'expert — sont tous des hypothèses, et deux d'entre elles sont imitables en une semaine par n'importe quel concurrent existant. C'est la faiblesse la plus sérieuse de cette thèse à ce stade, et elle ne se lèvera pas par la rédaction : elle se lèvera à l'activité …</a:t>
            </a:r>
            <a:endParaRPr lang="en-US" sz="1200" dirty="0"/>
          </a:p>
        </p:txBody>
      </p:sp>
      <p:sp>
        <p:nvSpPr>
          <p:cNvPr id="6"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product/C1.2-strategie/strategy/product-thesis.md — texte intégral dans le fichier</a:t>
            </a:r>
            <a:endParaRPr lang="en-US" sz="75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WP-03 — THÈSE PRODUIT</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Critère d'abandon</a:t>
            </a:r>
            <a:endParaRPr lang="en-US" sz="2200" dirty="0"/>
          </a:p>
        </p:txBody>
      </p:sp>
      <p:sp>
        <p:nvSpPr>
          <p:cNvPr id="5" name="Text 3"/>
          <p:cNvSpPr txBox="1"/>
          <p:nvPr/>
        </p:nvSpPr>
        <p:spPr>
          <a:xfrm>
            <a:off x="868680" y="2057400"/>
            <a:ext cx="10454335" cy="1256211"/>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Énoncé — A. Benyahya, Product Owner, 2026-09-21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 si je n'ai pas vendu 100 raquettes en 6 mois j'arrête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Les trois éléments exigés sont présents. FAIT — c'est une décision du sponsor, non une inférence.</a:t>
            </a:r>
            <a:endParaRPr lang="en-US" sz="1150" dirty="0"/>
          </a:p>
          <a:p>
            <a:pPr indent="0" marL="0">
              <a:lnSpc>
                <a:spcPts val="1500"/>
              </a:lnSpc>
              <a:spcAft>
                <a:spcPts val="600"/>
              </a:spcAft>
              <a:buNone/>
            </a:pPr>
            <a:r>
              <a:rPr lang="en-US" sz="1150" b="1" dirty="0">
                <a:solidFill>
                  <a:srgbClr val="4A453E"/>
                </a:solidFill>
                <a:latin typeface="Calibri" pitchFamily="34" charset="0"/>
                <a:ea typeface="Calibri" pitchFamily="34" charset="-122"/>
                <a:cs typeface="Calibri" pitchFamily="34" charset="-120"/>
              </a:rPr>
              <a:t>Deux lectures retenues, déclarées plutôt que supposées L'énoncé est court, et deux de ses mots portent une décision. Je retiens la lecture conservatrice et je la signale, pour qu'elle soit corrigée si elle ne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 vendu » = livré ET accepté, argent …</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68680" y="3450771"/>
          <a:ext cx="9144000" cy="914400"/>
        </p:xfrm>
        <a:graphic>
          <a:graphicData uri="http://schemas.openxmlformats.org/drawingml/2006/table">
            <a:tbl>
              <a:tblPr/>
              <a:tblGrid>
                <a:gridCol w="3295388"/>
                <a:gridCol w="7158947"/>
              </a:tblGrid>
              <a:tr h="0">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ÉLÉMENT</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VALEUR</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Quel résultat ferait renoncer</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Moins de 100 raquettes vendues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Qui le prononce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A. Benyahya, Product Owner — autorité non délégable de G0 et G3</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À quelle date on regarde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6 mois après la mise en service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product/C1.2-strategie/strategy/product-thesis.md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WP-03 — THÈSE PRODUIT</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Journal d'interrogatoire</a:t>
            </a:r>
            <a:endParaRPr lang="en-US" sz="2200" dirty="0"/>
          </a:p>
        </p:txBody>
      </p:sp>
      <p:sp>
        <p:nvSpPr>
          <p:cNvPr id="5" name="Text 3"/>
          <p:cNvSpPr txBox="1"/>
          <p:nvPr/>
        </p:nvSpPr>
        <p:spPr>
          <a:xfrm>
            <a:off x="868680" y="2057400"/>
            <a:ext cx="10454335" cy="1273629"/>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Salve unique — 2026-09-21. EX2 n'en autorise qu'une ; elle s'est déroulée en trois temps.</a:t>
            </a:r>
            <a:endParaRPr lang="en-US" sz="1150" dirty="0"/>
          </a:p>
          <a:p>
            <a:pPr indent="0" marL="0">
              <a:lnSpc>
                <a:spcPts val="1500"/>
              </a:lnSpc>
              <a:spcAft>
                <a:spcPts val="600"/>
              </a:spcAft>
              <a:buNone/>
            </a:pPr>
            <a:r>
              <a:rPr lang="en-US" sz="1150" b="1" dirty="0">
                <a:solidFill>
                  <a:srgbClr val="4A453E"/>
                </a:solidFill>
                <a:latin typeface="Calibri" pitchFamily="34" charset="0"/>
                <a:ea typeface="Calibri" pitchFamily="34" charset="-122"/>
                <a:cs typeface="Calibri" pitchFamily="34" charset="-120"/>
              </a:rPr>
              <a:t>Branches tranchées, avec motif</a:t>
            </a:r>
            <a:endParaRPr lang="en-US" sz="1150" dirty="0"/>
          </a:p>
          <a:p>
            <a:pPr indent="0" marL="0">
              <a:lnSpc>
                <a:spcPts val="1500"/>
              </a:lnSpc>
              <a:spcAft>
                <a:spcPts val="600"/>
              </a:spcAft>
              <a:buNone/>
            </a:pPr>
            <a:r>
              <a:rPr lang="en-US" sz="1150" b="1" dirty="0">
                <a:solidFill>
                  <a:srgbClr val="4A453E"/>
                </a:solidFill>
                <a:latin typeface="Calibri" pitchFamily="34" charset="0"/>
                <a:ea typeface="Calibri" pitchFamily="34" charset="-122"/>
                <a:cs typeface="Calibri" pitchFamily="34" charset="-120"/>
              </a:rPr>
              <a:t>Branches basculées en UNVALIDATED HYP-01 à HYP-08, détaillées en WP-05 avec critère de falsification, étiquette, point de test et porteur. Aucune n'est un ornement : quatre d'entre elles — HYP-01, HYP-04, HYP-05, HYP-06 — tuent le produit si elles sont fausses.</a:t>
            </a:r>
            <a:endParaRPr lang="en-US" sz="1150" dirty="0"/>
          </a:p>
          <a:p>
            <a:pPr indent="0" marL="0">
              <a:lnSpc>
                <a:spcPts val="1500"/>
              </a:lnSpc>
              <a:spcAft>
                <a:spcPts val="600"/>
              </a:spcAft>
              <a:buNone/>
            </a:pPr>
            <a:r>
              <a:rPr lang="en-US" sz="1150" b="1" dirty="0">
                <a:solidFill>
                  <a:srgbClr val="4A453E"/>
                </a:solidFill>
                <a:latin typeface="Calibri" pitchFamily="34" charset="0"/>
                <a:ea typeface="Calibri" pitchFamily="34" charset="-122"/>
                <a:cs typeface="Calibri" pitchFamily="34" charset="-120"/>
              </a:rPr>
              <a:t>Décisions implicites restantes Q4 est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Une troisième, nouvelle, est portée en …</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68680" y="3468189"/>
          <a:ext cx="9144000" cy="914400"/>
        </p:xfrm>
        <a:graphic>
          <a:graphicData uri="http://schemas.openxmlformats.org/drawingml/2006/table">
            <a:tbl>
              <a:tblPr/>
              <a:tblGrid>
                <a:gridCol w="305981"/>
                <a:gridCol w="3110802"/>
                <a:gridCol w="3467779"/>
                <a:gridCol w="3569773"/>
              </a:tblGrid>
              <a:tr h="0">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TEMPS</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QUESTION</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RÉPONSE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STATUT</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Source d'opportunité</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 une demande client réelle »</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tranchée, puis corrigée au temps 3 : le client est le sponsor. Ce n'est pas une demande externe</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Nature du produit</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 produit numérique »</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tranchée</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2 → 3</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Q1 — qui a demandé, quand, dans quels mots</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Le sponsor, propriétaire du site, 2026-09-21, verbatim au § Problème</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tranchée</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Q2 — que fait cette personne aujourd'hui, ce que ça lui coûte</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basculée UNVALIDATED → HYP-02, HYP-03</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Q3 — combien, et comment on les atteint</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basculée UNVALIDATED → HYP-01, HYP-04</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Q4 — ce qui ferait renoncer</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 si je n'ai pas vendu 100 raquettes en 6 mois j'arrête »</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tranchée — FAIT, décision du Product Owner. Deux lectures retenues et déclarées : « vendu » = accepté à la livraison ; « 6 mois » = après mise en service</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product/C1.2-strategie/strategy/product-thesis.md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8C8478"/>
                </a:solidFill>
                <a:latin typeface="Arial" pitchFamily="34" charset="0"/>
                <a:ea typeface="Arial" pitchFamily="34" charset="-122"/>
                <a:cs typeface="Arial" pitchFamily="34" charset="-120"/>
              </a:rPr>
              <a:t>C1.2  ·  WP-03 — THÈSE PRODUIT</a:t>
            </a:r>
            <a:endParaRPr lang="en-US" sz="800" dirty="0"/>
          </a:p>
        </p:txBody>
      </p:sp>
      <p:sp>
        <p:nvSpPr>
          <p:cNvPr id="4" name="Text 2"/>
          <p:cNvSpPr txBox="1"/>
          <p:nvPr/>
        </p:nvSpPr>
        <p:spPr>
          <a:xfrm>
            <a:off x="868680" y="960120"/>
            <a:ext cx="10454335" cy="640080"/>
          </a:xfrm>
          <a:prstGeom prst="rect">
            <a:avLst/>
          </a:prstGeom>
          <a:noFill/>
          <a:ln/>
        </p:spPr>
        <p:txBody>
          <a:bodyPr wrap="square" lIns="0" tIns="0" rIns="0" bIns="0" rtlCol="0" anchor="t"/>
          <a:lstStyle/>
          <a:p>
            <a:pPr indent="0" marL="0">
              <a:lnSpc>
                <a:spcPts val="3200"/>
              </a:lnSpc>
              <a:buNone/>
            </a:pPr>
            <a:r>
              <a:rPr lang="en-US" sz="2400" b="1" dirty="0">
                <a:solidFill>
                  <a:srgbClr val="F1ECE3"/>
                </a:solidFill>
                <a:latin typeface="Arial" pitchFamily="34" charset="0"/>
                <a:ea typeface="Arial" pitchFamily="34" charset="-122"/>
                <a:cs typeface="Arial" pitchFamily="34" charset="-120"/>
              </a:rPr>
              <a:t>Ce qui reste à vérifier</a:t>
            </a:r>
            <a:endParaRPr lang="en-US" sz="2400" dirty="0"/>
          </a:p>
        </p:txBody>
      </p:sp>
      <p:sp>
        <p:nvSpPr>
          <p:cNvPr id="5" name="Text 3"/>
          <p:cNvSpPr txBox="1"/>
          <p:nvPr/>
        </p:nvSpPr>
        <p:spPr>
          <a:xfrm>
            <a:off x="7269480" y="1783080"/>
            <a:ext cx="3657600"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D98324"/>
                </a:solidFill>
                <a:latin typeface="Arial" pitchFamily="34" charset="0"/>
                <a:ea typeface="Arial" pitchFamily="34" charset="-122"/>
                <a:cs typeface="Arial" pitchFamily="34" charset="-120"/>
              </a:rPr>
              <a:t>RÉSERVES DÉCLARÉES</a:t>
            </a:r>
            <a:endParaRPr lang="en-US" sz="800" dirty="0"/>
          </a:p>
        </p:txBody>
      </p:sp>
      <p:sp>
        <p:nvSpPr>
          <p:cNvPr id="6" name="Text 4"/>
          <p:cNvSpPr txBox="1"/>
          <p:nvPr/>
        </p:nvSpPr>
        <p:spPr>
          <a:xfrm>
            <a:off x="7269480" y="2103120"/>
            <a:ext cx="4053535" cy="3291840"/>
          </a:xfrm>
          <a:prstGeom prst="rect">
            <a:avLst/>
          </a:prstGeom>
          <a:noFill/>
          <a:ln/>
        </p:spPr>
        <p:txBody>
          <a:bodyPr wrap="square" lIns="0" tIns="0" rIns="0" bIns="0" rtlCol="0" anchor="t">
            <a:normAutofit/>
          </a:bodyPr>
          <a:lstStyle/>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 Critère d'abandon reste BLOCKED — EX2 cas 1 : « critère d'abandon » est cité nommément parmi les trois cas qui restent bloqués quel que soit le RUN MODE. Q4 sans réponse au 2026-09-21.</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Le sponsor a énoncé une SOLUTION (un site, un dashboard, du COD, Telegram) et non un problème. Le problème côté acheteur est reconstruit en hypothèse explicite, jamais en fait.</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Toute affirmation de marché est UNVALIDATED : la recherche web est accordée aux activités 3, 4, 9 et 27, pas à l'activité 2.</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Q2 et Q3 sans réponse : converties en hypothèses nommées sous EX2 run_mode_solo.</a:t>
            </a:r>
            <a:endParaRPr lang="en-US" sz="100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8C8478"/>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WP-04 — OUTCOMES</a:t>
            </a:r>
            <a:endParaRPr lang="en-US" sz="800" dirty="0"/>
          </a:p>
        </p:txBody>
      </p:sp>
      <p:sp>
        <p:nvSpPr>
          <p:cNvPr id="4" name="Text 2"/>
          <p:cNvSpPr txBox="1"/>
          <p:nvPr/>
        </p:nvSpPr>
        <p:spPr>
          <a:xfrm>
            <a:off x="868680" y="960120"/>
            <a:ext cx="10454335" cy="1463040"/>
          </a:xfrm>
          <a:prstGeom prst="rect">
            <a:avLst/>
          </a:prstGeom>
          <a:noFill/>
          <a:ln/>
        </p:spPr>
        <p:txBody>
          <a:bodyPr wrap="square" lIns="0" tIns="0" rIns="0" bIns="0" rtlCol="0" anchor="t"/>
          <a:lstStyle/>
          <a:p>
            <a:pPr indent="0" marL="0">
              <a:lnSpc>
                <a:spcPts val="2800"/>
              </a:lnSpc>
              <a:buNone/>
            </a:pPr>
            <a:r>
              <a:rPr lang="en-US" sz="2400" b="1" spc="-30" kern="0" dirty="0">
                <a:solidFill>
                  <a:srgbClr val="0F1318"/>
                </a:solidFill>
                <a:latin typeface="Arial" pitchFamily="34" charset="0"/>
                <a:ea typeface="Arial" pitchFamily="34" charset="-122"/>
                <a:cs typeface="Arial" pitchFamily="34" charset="-120"/>
              </a:rPr>
              <a:t>WP-04 — Outcomes</a:t>
            </a:r>
            <a:endParaRPr lang="en-US" sz="2400" dirty="0"/>
          </a:p>
        </p:txBody>
      </p:sp>
      <p:sp>
        <p:nvSpPr>
          <p:cNvPr id="5" name="Text 3"/>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product/C1.2-strategie/strategy/outcomes.md — livrable partiel, réserves en fin de document</a:t>
            </a:r>
            <a:endParaRPr lang="en-US" sz="750" dirty="0"/>
          </a:p>
        </p:txBody>
      </p:sp>
      <p:sp>
        <p:nvSpPr>
          <p:cNvPr id="6" name="Text 4"/>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WP-04 — OUTCOMES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OUT-nn — énoncé</a:t>
            </a:r>
            <a:endParaRPr lang="en-US" sz="2200" dirty="0"/>
          </a:p>
        </p:txBody>
      </p:sp>
      <p:sp>
        <p:nvSpPr>
          <p:cNvPr id="5" name="Text 3"/>
          <p:cNvSpPr txBox="1"/>
          <p:nvPr/>
        </p:nvSpPr>
        <p:spPr>
          <a:xfrm>
            <a:off x="868680" y="2057400"/>
            <a:ext cx="10454335" cy="1238794"/>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Un changement observable chez quelqu'un, formulé en résultat. Aucun n'est une fonctionnalité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le tableau de bord, Telegram et le paiement à la livraison sont des moyens, et ne figurent ici qu'en tant que sources de donnée.</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OUT-04 — REJETÉ. Motif : aucun instrument de mesure de la confiance n'existe hors du produit. On ne peut l'approcher que par un proxy produit — taux de retour, avis déposés — donc en le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OUT-05 — REJETÉ. Motif : « mieux …</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68680" y="3433354"/>
          <a:ext cx="9144000" cy="914400"/>
        </p:xfrm>
        <a:graphic>
          <a:graphicData uri="http://schemas.openxmlformats.org/drawingml/2006/table">
            <a:tbl>
              <a:tblPr/>
              <a:tblGrid>
                <a:gridCol w="660274"/>
                <a:gridCol w="7703194"/>
                <a:gridCol w="2090867"/>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ÉNONCÉ</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CHEZ QUI</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OUT-01</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Le joueur reçoit et accepte la raquette qu'il a commandée, au prix affiché, sans avoir avancé d'argent ni négocié</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Acheteur — cible A</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OUT-02</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Le joueur obtient sa raquette plus vite qu'aujourd'hui, et sait quand il l'aura</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Acheteur — cible A</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OUT-03</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L'opérateur décide son réassort sur une donnée plutôt que de mémoire, et cesse de reconstituer l'état de ses ventes</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Opérateur — cible B</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OUT-04</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~~Le joueur fait davantage confiance au site qu'à un vendeur sur réseau social~~</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REJETÉ</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000" b="1" dirty="0">
                          <a:solidFill>
                            <a:srgbClr val="0F1318"/>
                          </a:solidFill>
                          <a:latin typeface="Calibri" pitchFamily="34" charset="0"/>
                          <a:ea typeface="Calibri" pitchFamily="34" charset="-122"/>
                          <a:cs typeface="Calibri" pitchFamily="34" charset="-120"/>
                        </a:rPr>
                        <a:t>OUT-05</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~~Le joueur choisit mieux sa raquette grâce au conseil du site~~</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000" dirty="0">
                          <a:solidFill>
                            <a:srgbClr val="4A453E"/>
                          </a:solidFill>
                          <a:latin typeface="Calibri" pitchFamily="34" charset="0"/>
                          <a:ea typeface="Calibri" pitchFamily="34" charset="-122"/>
                          <a:cs typeface="Calibri" pitchFamily="34" charset="-120"/>
                        </a:rPr>
                        <a:t>REJETÉ</a:t>
                      </a:r>
                      <a:endParaRPr lang="en-US" sz="10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product/C1.2-strategie/strategy/outcomes.md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WP-04 — OUTCOMES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Nombre suivi</a:t>
            </a:r>
            <a:endParaRPr lang="en-US" sz="2200" dirty="0"/>
          </a:p>
        </p:txBody>
      </p:sp>
      <p:sp>
        <p:nvSpPr>
          <p:cNvPr id="5" name="Text 3"/>
          <p:cNvSpPr txBox="1"/>
          <p:nvPr/>
        </p:nvSpPr>
        <p:spPr>
          <a:xfrm>
            <a:off x="868680" y="2057400"/>
            <a:ext cx="10454335" cy="905691"/>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Une grandeur, une unité, une population. Sans unité ce n'est pas un nombre ; sans population l'unité ne porte sur rien.</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La médiane, et non la moyenne, pour OUT-02 : sur de petits volumes une seule livraison pathologique déplace une moyenne et ne dit rien de ce que vit un acheteur ordinaire.</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68680" y="3100251"/>
          <a:ext cx="9144000" cy="914400"/>
        </p:xfrm>
        <a:graphic>
          <a:graphicData uri="http://schemas.openxmlformats.org/drawingml/2006/table">
            <a:tbl>
              <a:tblPr/>
              <a:tblGrid>
                <a:gridCol w="570236"/>
                <a:gridCol w="3326379"/>
                <a:gridCol w="1710709"/>
                <a:gridCol w="4847010"/>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GRANDEUR</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UNITÉ</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POPULATION</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OUT-01</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Taux d'acceptation à la livraison</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Commandes présentées à la livraison sur une période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OUT-02</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Délai commande → réception, médiane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jours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Commandes livrées et acceptées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OUT-03</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Ruptures sur référence demandée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occurrences / mois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Références au catalogue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product/C1.2-strategie/strategy/outcomes.md</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WP-04 — OUTCOMES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Valeur actuelle</a:t>
            </a:r>
            <a:endParaRPr lang="en-US" sz="2200" dirty="0"/>
          </a:p>
        </p:txBody>
      </p:sp>
      <p:sp>
        <p:nvSpPr>
          <p:cNvPr id="5" name="Text 3"/>
          <p:cNvSpPr txBox="1"/>
          <p:nvPr/>
        </p:nvSpPr>
        <p:spPr>
          <a:xfrm>
            <a:off x="868680" y="2057400"/>
            <a:ext cx="10454335" cy="1188720"/>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Mesurée, avec source et date. **Si inconnue, écrire « inconnue » et en faire la première mesure du plan de recherche** — jamais l'estimer.</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OUT-01 est le nombre qui décide de l'affaire. Le paiement à la livraison transfère le risque au vendeur : chaque refus coûte un aller-retour de transport et immobilise l'article. En l'absence de tout ordre de grandeur, je ne sais pas si ce modèle est viable ici — et personne dans …</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68680" y="3383280"/>
          <a:ext cx="9144000" cy="914400"/>
        </p:xfrm>
        <a:graphic>
          <a:graphicData uri="http://schemas.openxmlformats.org/drawingml/2006/table">
            <a:tbl>
              <a:tblPr/>
              <a:tblGrid>
                <a:gridCol w="429630"/>
                <a:gridCol w="5012352"/>
                <a:gridCol w="5012352"/>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VALEUR ACTUELLE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STATUT</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OUT-01</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Inconnue. Aucune commande n'existe. Un ordre de grandeur de marché — taux de refus usuel du paiement à la livraison au Maroc — est nécessaire pour savoir si une cible est atteignable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Première mesure du plan de recherche · à sourcer activité 3 (WP-06)</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OUT-02</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Inconnue. Q2 est sans réponse : ce que fait l'acheteur aujourd'hui, et en combien de temps, n'est pas documenté</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Première mesure du plan de recherche · activité 4 (WP-08), par entretien</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OUT-03</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Sans objet aujourd'hui — il n'y a ni catalogue, ni stock, ni ventes. Valeur de départ conventionnelle : 0 référence, 0 rupture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Devient mesurable à la mise en service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product/C1.2-strategie/strategy/outcomes.md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WP-04 — OUTCOMES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Valeur cible et échéance</a:t>
            </a:r>
            <a:endParaRPr lang="en-US" sz="2200" dirty="0"/>
          </a:p>
        </p:txBody>
      </p:sp>
      <p:sp>
        <p:nvSpPr>
          <p:cNvPr id="5" name="Text 3"/>
          <p:cNvSpPr txBox="1"/>
          <p:nvPr/>
        </p:nvSpPr>
        <p:spPr>
          <a:xfrm>
            <a:off x="868680" y="2057400"/>
            <a:ext cx="10454335" cy="1262743"/>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Un seuil et une date relative à un événement — jamais une date calendaire flottante.</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L'événement de référence est la mise en service (G4), fixé par le critère d'abandon du sponsor : « si je n'ai pas vendu 100 raquettes en 6 mois j'arrête » (WP-03, 2026-09-21).</a:t>
            </a:r>
            <a:endParaRPr lang="en-US" sz="1150" dirty="0"/>
          </a:p>
          <a:p>
            <a:pPr indent="0" marL="0">
              <a:lnSpc>
                <a:spcPts val="1500"/>
              </a:lnSpc>
              <a:spcAft>
                <a:spcPts val="600"/>
              </a:spcAft>
              <a:buNone/>
            </a:pPr>
            <a:r>
              <a:rPr lang="en-US" sz="1150" b="1" dirty="0">
                <a:solidFill>
                  <a:srgbClr val="4A453E"/>
                </a:solidFill>
                <a:latin typeface="Calibri" pitchFamily="34" charset="0"/>
                <a:ea typeface="Calibri" pitchFamily="34" charset="-122"/>
                <a:cs typeface="Calibri" pitchFamily="34" charset="-120"/>
              </a:rPr>
              <a:t>Le seuil d'acceptation, et pourquoi il ne peut pas encore être chiffré Le critère d'abandon fixe un volume. Il ne fixe pas de marge. Or en paiement à la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Le point mort est atteint quand a · m = …</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68680" y="3457303"/>
          <a:ext cx="9144000" cy="914400"/>
        </p:xfrm>
        <a:graphic>
          <a:graphicData uri="http://schemas.openxmlformats.org/drawingml/2006/table">
            <a:tbl>
              <a:tblPr/>
              <a:tblGrid>
                <a:gridCol w="568170"/>
                <a:gridCol w="3977193"/>
                <a:gridCol w="1931779"/>
                <a:gridCol w="3977193"/>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CIBLE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ÉCHÉANCE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STATUT</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OUT-01</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100 commandes acceptées à la livraison, cumulées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M+6 après mise en service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DÉRIVÉE du critère d'abandon. « Vendu » est lu comme livré et accepté — lecture déclarée en WP-03</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OUT-01 bis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Taux d'acceptation ≥ a\* = c / (m + c)</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mesuré en continu, lu à M+3 et M+6</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FORMULE établie, seuil BLOCKED — m et c inconnus (U-08)</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OUT-02</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Médiane strictement inférieure à celle du statu quo, mesurée à l'activité 4</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M+6</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DÉRIVÉE : un produit qui n'améliore pas le délai ne change rien à ce titre. Le nombre viendra de WP-08</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OUT-03</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0 rupture sur une référence effectivement demandée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M+6</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DÉRIVÉE : à 17 ventes par mois, une rupture sur une référence demandée est une vente perdue, et chaque vente perdue compte contre les 100</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product/C1.2-strategie/strategy/outcomes.md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WP-04 — OUTCOMES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Méthode de mesure et source de donnée</a:t>
            </a:r>
            <a:endParaRPr lang="en-US" sz="2200" dirty="0"/>
          </a:p>
        </p:txBody>
      </p:sp>
      <p:sp>
        <p:nvSpPr>
          <p:cNvPr id="5" name="Text 3"/>
          <p:cNvSpPr txBox="1"/>
          <p:nvPr/>
        </p:nvSpPr>
        <p:spPr>
          <a:xfrm>
            <a:off x="868680" y="2057400"/>
            <a:ext cx="10454335" cy="1262743"/>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L'instrument doit exister sans le produit ; la source de donnée peut, elle, naître avec lui.</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Conséquence pour le socle. OUT-01 et OUT-02 s'appuient sur le transporteur : le choix du transporteur n'est donc pas une décision logistique tardive, c'est une dépendance de mesure.</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Un transporteur qui ne restitue pas ses taux d'acceptation rendrait OUT-01 non mesurable, et donc le produit non pilotable sur sa métrique de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&lt;!-- Complétude : Chaque outcome est …</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68680" y="3457303"/>
          <a:ext cx="9144000" cy="914400"/>
        </p:xfrm>
        <a:graphic>
          <a:graphicData uri="http://schemas.openxmlformats.org/drawingml/2006/table">
            <a:tbl>
              <a:tblPr/>
              <a:tblGrid>
                <a:gridCol w="290398"/>
                <a:gridCol w="3387979"/>
                <a:gridCol w="3387979"/>
                <a:gridCol w="3387979"/>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INSTRUMENT</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SOURCE DE DONNÉE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EXISTE SANS LE PRODUIT ?</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OUT-01</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Rapport de livraison du transporteur en paiement à la livraison — instrument standard du secteur, antérieur au produit</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Relevés du transporteur, recoupés par les notifications Telegram de commande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Oui — le rapport existe chez tout transporteur COD ; reste à identifier lequel (activité 9)</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OUT-02</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Pour la valeur actuelle : entretien et observation du parcours d'achat réel (activité 4). Pour la valeur après mise en service : horodatage commande Telegram → accusé de livraison</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Telegram + transporteur</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Oui pour la mesure du statu quo — c'est ce qui le sauve du rejet</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OUT-03</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Comparaison entre demandes reçues et disponibilité, tenue hors produit dans un tableur si nécessaire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Canal Telegram, relevé de stock</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Oui — Telegram et un tableur existent ; le tableau de bord automatise une mesure, il ne la crée pas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product/C1.2-strategie/strategy/outcomes.md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8C8478"/>
                </a:solidFill>
                <a:latin typeface="Arial" pitchFamily="34" charset="0"/>
                <a:ea typeface="Arial" pitchFamily="34" charset="-122"/>
                <a:cs typeface="Arial" pitchFamily="34" charset="-120"/>
              </a:rPr>
              <a:t>C1.2  ·  WP-04 — OUTCOMES</a:t>
            </a:r>
            <a:endParaRPr lang="en-US" sz="800" dirty="0"/>
          </a:p>
        </p:txBody>
      </p:sp>
      <p:sp>
        <p:nvSpPr>
          <p:cNvPr id="4" name="Text 2"/>
          <p:cNvSpPr txBox="1"/>
          <p:nvPr/>
        </p:nvSpPr>
        <p:spPr>
          <a:xfrm>
            <a:off x="868680" y="960120"/>
            <a:ext cx="10454335" cy="640080"/>
          </a:xfrm>
          <a:prstGeom prst="rect">
            <a:avLst/>
          </a:prstGeom>
          <a:noFill/>
          <a:ln/>
        </p:spPr>
        <p:txBody>
          <a:bodyPr wrap="square" lIns="0" tIns="0" rIns="0" bIns="0" rtlCol="0" anchor="t"/>
          <a:lstStyle/>
          <a:p>
            <a:pPr indent="0" marL="0">
              <a:lnSpc>
                <a:spcPts val="3200"/>
              </a:lnSpc>
              <a:buNone/>
            </a:pPr>
            <a:r>
              <a:rPr lang="en-US" sz="2400" b="1" dirty="0">
                <a:solidFill>
                  <a:srgbClr val="F1ECE3"/>
                </a:solidFill>
                <a:latin typeface="Arial" pitchFamily="34" charset="0"/>
                <a:ea typeface="Arial" pitchFamily="34" charset="-122"/>
                <a:cs typeface="Arial" pitchFamily="34" charset="-120"/>
              </a:rPr>
              <a:t>Ce qui reste à vérifier</a:t>
            </a:r>
            <a:endParaRPr lang="en-US" sz="2400" dirty="0"/>
          </a:p>
        </p:txBody>
      </p:sp>
      <p:sp>
        <p:nvSpPr>
          <p:cNvPr id="5" name="Text 3"/>
          <p:cNvSpPr txBox="1"/>
          <p:nvPr/>
        </p:nvSpPr>
        <p:spPr>
          <a:xfrm>
            <a:off x="7269480" y="1783080"/>
            <a:ext cx="3657600"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D98324"/>
                </a:solidFill>
                <a:latin typeface="Arial" pitchFamily="34" charset="0"/>
                <a:ea typeface="Arial" pitchFamily="34" charset="-122"/>
                <a:cs typeface="Arial" pitchFamily="34" charset="-120"/>
              </a:rPr>
              <a:t>RÉSERVES DÉCLARÉES</a:t>
            </a:r>
            <a:endParaRPr lang="en-US" sz="800" dirty="0"/>
          </a:p>
        </p:txBody>
      </p:sp>
      <p:sp>
        <p:nvSpPr>
          <p:cNvPr id="6" name="Text 4"/>
          <p:cNvSpPr txBox="1"/>
          <p:nvPr/>
        </p:nvSpPr>
        <p:spPr>
          <a:xfrm>
            <a:off x="7269480" y="2103120"/>
            <a:ext cx="4053535" cy="3291840"/>
          </a:xfrm>
          <a:prstGeom prst="rect">
            <a:avLst/>
          </a:prstGeom>
          <a:noFill/>
          <a:ln/>
        </p:spPr>
        <p:txBody>
          <a:bodyPr wrap="square" lIns="0" tIns="0" rIns="0" bIns="0" rtlCol="0" anchor="t">
            <a:normAutofit/>
          </a:bodyPr>
          <a:lstStyle/>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Cibles et échéances DÉRIVÉES du critère d'abandon du sponsor (100 raquettes acceptées à M+6 après mise en service). Une seule reste BLOCKED : le seuil de taux d'acceptation a*, dont la FORMULE est établie mais dont les termes m (marge unitaire) et c (coût d'un</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Le critère d'abandon porte sur un VOLUME et non sur une marge : il est atteignable en perdant de l'argent. Le compléter relève d'EX2 cas 1 et reste une décision du Product Owner.</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Les valeurs actuelles sont inconnues : le statu quo de l'acheteur n'est pas documenté (Q2 sans réponse). Chacune est déclarée « inconnue » et devient une mesure du plan de recherche, jamais une estimation.</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Interprétation déclarée de « mesurable aujourd'hui » : l'INSTRUMENT de mesure doit exister sans qu'on construise le produit ; la valeur, elle, peut être nulle ou inconnue. Un outcome dont l'instrument n'existerait qu'une fois le produit construit est REJETÉ.</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OUT-04 et OUT-05 sont REJETÉS avec motif, non reformulés.</a:t>
            </a:r>
            <a:endParaRPr lang="en-US" sz="100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8C8478"/>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a:t>
            </a:r>
            <a:endParaRPr lang="en-US" sz="800" dirty="0"/>
          </a:p>
        </p:txBody>
      </p:sp>
      <p:sp>
        <p:nvSpPr>
          <p:cNvPr id="4" name="Text 2"/>
          <p:cNvSpPr txBox="1"/>
          <p:nvPr/>
        </p:nvSpPr>
        <p:spPr>
          <a:xfrm>
            <a:off x="868680" y="960120"/>
            <a:ext cx="10454335" cy="1463040"/>
          </a:xfrm>
          <a:prstGeom prst="rect">
            <a:avLst/>
          </a:prstGeom>
          <a:noFill/>
          <a:ln/>
        </p:spPr>
        <p:txBody>
          <a:bodyPr wrap="square" lIns="0" tIns="0" rIns="0" bIns="0" rtlCol="0" anchor="t"/>
          <a:lstStyle/>
          <a:p>
            <a:pPr indent="0" marL="0">
              <a:lnSpc>
                <a:spcPts val="2800"/>
              </a:lnSpc>
              <a:buNone/>
            </a:pPr>
            <a:r>
              <a:rPr lang="en-US" sz="2400" b="1" spc="-30" kern="0" dirty="0">
                <a:solidFill>
                  <a:srgbClr val="0F1318"/>
                </a:solidFill>
                <a:latin typeface="Arial" pitchFamily="34" charset="0"/>
                <a:ea typeface="Arial" pitchFamily="34" charset="-122"/>
                <a:cs typeface="Arial" pitchFamily="34" charset="-120"/>
              </a:rPr>
              <a:t>WP-05 — Hypothèses critiques</a:t>
            </a:r>
            <a:endParaRPr lang="en-US" sz="2400" dirty="0"/>
          </a:p>
        </p:txBody>
      </p:sp>
      <p:sp>
        <p:nvSpPr>
          <p:cNvPr id="5" name="Text 3"/>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 — livrable partiel, réserves en fin de document</a:t>
            </a:r>
            <a:endParaRPr lang="en-US" sz="750" dirty="0"/>
          </a:p>
        </p:txBody>
      </p:sp>
      <p:sp>
        <p:nvSpPr>
          <p:cNvPr id="6" name="Text 4"/>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HYP-nn — énoncé</a:t>
            </a:r>
            <a:endParaRPr lang="en-US" sz="2200" dirty="0"/>
          </a:p>
        </p:txBody>
      </p:sp>
      <p:sp>
        <p:nvSpPr>
          <p:cNvPr id="5" name="Text 3"/>
          <p:cNvSpPr txBox="1"/>
          <p:nvPr/>
        </p:nvSpPr>
        <p:spPr>
          <a:xfrm>
            <a:off x="868680" y="2057400"/>
            <a:ext cx="10454335" cy="1171303"/>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Ce qui doit être vrai et qu'on ne sait pas encore. Une affirmation, pas une question.</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*(HYP-09 porte le compte des létales à cinq, et HYP-10 à six. Elle est listée en dernier parce qu'elle est arrivée en dernier au raisonnement, et non parce qu'elle compte moins : une raquette est un objet de sensation — poids, équilibre, rigidité. Si le joueur exige d'essayer, la vente en ligne ne vend que du remplacement à …</a:t>
            </a:r>
            <a:endParaRPr lang="en-US" sz="11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68680" y="3365863"/>
          <a:ext cx="9144000" cy="914400"/>
        </p:xfrm>
        <a:graphic>
          <a:graphicData uri="http://schemas.openxmlformats.org/drawingml/2006/table">
            <a:tbl>
              <a:tblPr/>
              <a:tblGrid>
                <a:gridCol w="746738"/>
                <a:gridCol w="8711946"/>
                <a:gridCol w="995651"/>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ÉNONCÉ</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LÉTALE ?</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HYP-01</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Il existe au Maroc une population de joueurs de padel assez nombreuse et assez renouvelée pour qu'une boutique mono-catégorie soit viable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oui</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HYP-02</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L'achat d'une raquette y passe aujourd'hui par des canaux informels ou indirects, et cela crée une gêne réelle — pas seulement une imperfection théorique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non</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HYP-03</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Cette gêne coûte assez cher au joueur — délai, prix, incertitude — pour qu'il change de canal</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non</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HYP-04</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Un canal d'acquisition atteignable et soutenable existe pour toucher ces joueurs</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oui</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HYP-05</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Le taux d'acceptation à la livraison en paiement à la livraison sera assez élevé pour que la marge survive au coût des refus</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oui</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HYP-06</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Aucun acteur existant ne sert déjà correctement cette demande, et aucun ne peut répliquer l'offre en quelques semaines</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oui</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HYP-07</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Un opérateur unique absorbe le volume de commandes visé sans dégrader le délai</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non</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HYP-08</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Telegram suffit comme canal d'exploitation en V1 : aucun back-office temps réel n'est requis pour traiter une commande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non</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  ·  SUITE</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HYP-nn — énoncé</a:t>
            </a:r>
            <a:endParaRPr lang="en-US" sz="2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68680" y="2057400"/>
          <a:ext cx="9144000" cy="914400"/>
        </p:xfrm>
        <a:graphic>
          <a:graphicData uri="http://schemas.openxmlformats.org/drawingml/2006/table">
            <a:tbl>
              <a:tblPr/>
              <a:tblGrid>
                <a:gridCol w="746738"/>
                <a:gridCol w="8711946"/>
                <a:gridCol w="995651"/>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ÉNONCÉ</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LÉTALE ?</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HYP-09</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Une raquette de padel s'achète sans l'avoir essayée, à partir d'une fiche produit</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oui</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HYP-10</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La marge unitaire couvre le coût des refus au taux d'acceptation réellement obtenu : a_observé ≥ a* = c / (m + c)</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oui</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6" name="Text 3"/>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a:t>
            </a:r>
            <a:endParaRPr lang="en-US" sz="750" dirty="0"/>
          </a:p>
        </p:txBody>
      </p:sp>
      <p:sp>
        <p:nvSpPr>
          <p:cNvPr id="7" name="Text 4"/>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Trace vers OUT</a:t>
            </a:r>
            <a:endParaRPr lang="en-US" sz="2200" dirty="0"/>
          </a:p>
        </p:txBody>
      </p:sp>
      <p:sp>
        <p:nvSpPr>
          <p:cNvPr id="5" name="Text 3"/>
          <p:cNvSpPr txBox="1"/>
          <p:nvPr/>
        </p:nvSpPr>
        <p:spPr>
          <a:xfrm>
            <a:off x="868680" y="2057400"/>
            <a:ext cx="10454335" cy="468086"/>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L'outcome qui tombe si l'hypothèse est fausse. Une hypothèse sans OUT n'est pas critique.</a:t>
            </a:r>
            <a:endParaRPr lang="en-US" sz="11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68680" y="2662646"/>
          <a:ext cx="9144000" cy="914400"/>
        </p:xfrm>
        <a:graphic>
          <a:graphicData uri="http://schemas.openxmlformats.org/drawingml/2006/table">
            <a:tbl>
              <a:tblPr/>
              <a:tblGrid>
                <a:gridCol w="640061"/>
                <a:gridCol w="2346892"/>
                <a:gridCol w="7467382"/>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TRACE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CE QUI TOMBE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HYP-01</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OUT-01, OUT-02, OUT-03</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Tout. Sans population, aucun outcome n'a de sujet</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HYP-02</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OUT-02</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Le gain de délai n'a pas d'écart à combler</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HYP-03</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OUT-02</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Le joueur ne change pas de canal : l'outcome existe mais personne ne le réalise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HYP-04</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OUT-01, OUT-02</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Aucune commande n'est passée : les deux outcomes acheteur restent à zéro</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HYP-05</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OUT-01</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OUT-01 est cette hypothèse mesurée. Si elle est fausse, l'outcome est atteint côté acheteur et le produit perd de l'argent à chaque unité</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HYP-06</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OUT-01, OUT-02</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La demande est captée ailleurs</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HYP-07</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OUT-02</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Le délai se dégrade avec le volume — l'outcome se retourne en grandissant</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HYP-08</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OUT-03</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L'opérateur retombe sur la reconstitution manuelle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  ·  SUITE</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Trace vers OUT</a:t>
            </a:r>
            <a:endParaRPr lang="en-US" sz="2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68680" y="2057400"/>
          <a:ext cx="9144000" cy="914400"/>
        </p:xfrm>
        <a:graphic>
          <a:graphicData uri="http://schemas.openxmlformats.org/drawingml/2006/table">
            <a:tbl>
              <a:tblPr/>
              <a:tblGrid>
                <a:gridCol w="1557029"/>
                <a:gridCol w="1112163"/>
                <a:gridCol w="7785143"/>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TRACE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CE QUI TOMBE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HYP-09</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OUT-01</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Le joueur commande puis refuse à la livraison, faute d'avoir pu essayer. HYP-09 est un mécanisme de HYP-05 : deux hypothèses, une même conséquence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HYP-10</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OUT-01 bis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Le produit vend et perd de l'argent sur chaque unité. Le critère d'abandon ne détecte pas ce cas : il compte des raquettes, pas des dirhams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HYP-M1, HYP-M2</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aucune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Rien. Elles portent sur le run, pas sur le produit — et ne comblent donc rien</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6" name="Text 3"/>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a:t>
            </a:r>
            <a:endParaRPr lang="en-US" sz="750" dirty="0"/>
          </a:p>
        </p:txBody>
      </p:sp>
      <p:sp>
        <p:nvSpPr>
          <p:cNvPr id="7" name="Text 4"/>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Critère de falsification</a:t>
            </a:r>
            <a:endParaRPr lang="en-US" sz="2200" dirty="0"/>
          </a:p>
        </p:txBody>
      </p:sp>
      <p:sp>
        <p:nvSpPr>
          <p:cNvPr id="5" name="Text 3"/>
          <p:cNvSpPr txBox="1"/>
          <p:nvPr/>
        </p:nvSpPr>
        <p:spPr>
          <a:xfrm>
            <a:off x="868680" y="2057400"/>
            <a:ext cx="10454335" cy="1173480"/>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Au futur observable : « si l'on observe X, c'est faux ». Avec un nombre et une population.</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Le trou de HYP-01 est comblé. Son critère exigeait un seuil qui dépendait de Q4 ; la réponse du sponsor le fournit — 100 raquettes en 6 mois. Le nombre vient de lui, pas de moi, ce qui est la seule manière dont un critère de falsification acquiert un seuil légitime.</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Celui de HYP-10 ne l'est pas encore, et pour une raison …</a:t>
            </a:r>
            <a:endParaRPr lang="en-US" sz="11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68680" y="3368040"/>
          <a:ext cx="9144000" cy="914400"/>
        </p:xfrm>
        <a:graphic>
          <a:graphicData uri="http://schemas.openxmlformats.org/drawingml/2006/table">
            <a:tbl>
              <a:tblPr/>
              <a:tblGrid>
                <a:gridCol w="825342"/>
                <a:gridCol w="9628993"/>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CRITÈRE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HYP-01</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Fausse si le marché accessible, estimé à partir du nombre de clubs et de licenciés relevé auprès de la fédération et des exploitants, n'admet pas 100 raquettes vendues en 6 mois par un entrant mono-catégorie sans notorié</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HYP-02</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Fausse si, sur au moins 8 joueurs interrogés, plus de la moitié déclare acheter en magasin physique local sans gêne rapportée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HYP-03</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Fausse si aucun des joueurs interrogés ne chiffre un coût — délai en jours, écart de prix, achat renoncé</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HYP-04</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Fausse si aucun canal identifié ne permet d'atteindre un joueur à un coût inférieur à la marge unitaire d'une raquette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HYP-05</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Fausse si le taux d'acceptation à la livraison observé, chez un transporteur marocain sur une catégorie de prix comparable, est tel que le coût des refus dépasse la marge sur les commandes acceptées</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HYP-06</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Fausse si l'on identifie au moins un acteur proposant déjà, au Maroc, un catalogue de raquettes de padel avec prix affiché et livraison — une seule occurrence suffit à falsifier</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HYP-07</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Fausse si le temps de traitement d'une commande, mesuré sur les premières, multiplié par le volume visé, dépasse le temps que l'opérateur peut y consacrer</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HYP-08</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Fausse si le traitement d'une commande exige de consulter ou de modifier un état que Telegram ne porte pas — stock, historique client, avoir</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  ·  SUITE</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Critère de falsification</a:t>
            </a:r>
            <a:endParaRPr lang="en-US" sz="2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68680" y="2057400"/>
          <a:ext cx="9144000" cy="914400"/>
        </p:xfrm>
        <a:graphic>
          <a:graphicData uri="http://schemas.openxmlformats.org/drawingml/2006/table">
            <a:tbl>
              <a:tblPr/>
              <a:tblGrid>
                <a:gridCol w="825342"/>
                <a:gridCol w="9628993"/>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CRITÈRE</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HYP-09</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Fausse si, sur au moins 8 joueurs interrogés, plus de la moitié déclare ne pas acheter une raquette sans l'avoir prise en main</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HYP-10</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Fausse si le taux d'acceptation sectoriel relevé à l'activité 3 est inférieur à a, a étant calculé avec la marge unitaire et le coût de refus établis à l'activité 9. Réfutation définitive à la mise en service, sur le tau</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6" name="Text 3"/>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a:t>
            </a:r>
            <a:endParaRPr lang="en-US" sz="750" dirty="0"/>
          </a:p>
        </p:txBody>
      </p:sp>
      <p:sp>
        <p:nvSpPr>
          <p:cNvPr id="7" name="Text 4"/>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Étiquette</a:t>
            </a:r>
            <a:endParaRPr lang="en-US" sz="2200" dirty="0"/>
          </a:p>
        </p:txBody>
      </p:sp>
      <p:sp>
        <p:nvSpPr>
          <p:cNvPr id="5" name="Text 3"/>
          <p:cNvSpPr txBox="1"/>
          <p:nvPr/>
        </p:nvSpPr>
        <p:spPr>
          <a:xfrm>
            <a:off x="868680" y="2057400"/>
            <a:ext cx="10454335" cy="4069080"/>
          </a:xfrm>
          <a:prstGeom prst="rect">
            <a:avLst/>
          </a:prstGeom>
          <a:noFill/>
          <a:ln/>
        </p:spPr>
        <p:txBody>
          <a:bodyPr wrap="square" lIns="0" tIns="0" rIns="0" bIns="0" rtlCol="0" anchor="t">
            <a:normAutofit/>
          </a:bodyPr>
          <a:lstStyle/>
          <a:p>
            <a:pPr indent="0" marL="0">
              <a:lnSpc>
                <a:spcPts val="1800"/>
              </a:lnSpc>
              <a:spcAft>
                <a:spcPts val="600"/>
              </a:spcAft>
              <a:buNone/>
            </a:pPr>
            <a:r>
              <a:rPr lang="en-US" sz="1350" dirty="0">
                <a:solidFill>
                  <a:srgbClr val="4A453E"/>
                </a:solidFill>
                <a:latin typeface="Calibri" pitchFamily="34" charset="0"/>
                <a:ea typeface="Calibri" pitchFamily="34" charset="-122"/>
                <a:cs typeface="Calibri" pitchFamily="34" charset="-120"/>
              </a:rPr>
              <a:t>EMPIRICAL (testé avec de vrais utilisateurs) · SYNTHETIC (revue persona par un agent) · UNVALIDATED (conviction). L'étiquette est obligatoire et **ne s'améliore jamais par reformulation**.</a:t>
            </a:r>
            <a:endParaRPr lang="en-US" sz="1350" dirty="0"/>
          </a:p>
          <a:p>
            <a:pPr indent="0" marL="0">
              <a:lnSpc>
                <a:spcPts val="1800"/>
              </a:lnSpc>
              <a:spcAft>
                <a:spcPts val="600"/>
              </a:spcAft>
              <a:buNone/>
            </a:pPr>
            <a:r>
              <a:rPr lang="en-US" sz="1350" dirty="0">
                <a:solidFill>
                  <a:srgbClr val="4A453E"/>
                </a:solidFill>
                <a:latin typeface="Calibri" pitchFamily="34" charset="0"/>
                <a:ea typeface="Calibri" pitchFamily="34" charset="-122"/>
                <a:cs typeface="Calibri" pitchFamily="34" charset="-120"/>
              </a:rPr>
              <a:t>Les dix hypothèses produit sont UNVALIDATED. Aucune n'a été confrontée à un joueur, ni à une source datée. Aucune n'est SYNTHETIC : je n'ai pas fait passer de revue persona, et l'appeler ainsi serait s'attribuer un travail non fait.</a:t>
            </a:r>
            <a:endParaRPr lang="en-US" sz="1350" dirty="0"/>
          </a:p>
          <a:p>
            <a:pPr indent="0" marL="0">
              <a:lnSpc>
                <a:spcPts val="1800"/>
              </a:lnSpc>
              <a:spcAft>
                <a:spcPts val="600"/>
              </a:spcAft>
              <a:buNone/>
            </a:pPr>
            <a:r>
              <a:rPr lang="en-US" sz="1350" dirty="0">
                <a:solidFill>
                  <a:srgbClr val="4A453E"/>
                </a:solidFill>
                <a:latin typeface="Calibri" pitchFamily="34" charset="0"/>
                <a:ea typeface="Calibri" pitchFamily="34" charset="-122"/>
                <a:cs typeface="Calibri" pitchFamily="34" charset="-120"/>
              </a:rPr>
              <a:t>HYP-M1 et HYP-M2 : UNVALIDATED également.</a:t>
            </a:r>
            <a:endParaRPr lang="en-US" sz="1350" dirty="0"/>
          </a:p>
          <a:p>
            <a:pPr indent="0" marL="0">
              <a:lnSpc>
                <a:spcPts val="1800"/>
              </a:lnSpc>
              <a:spcAft>
                <a:spcPts val="600"/>
              </a:spcAft>
              <a:buNone/>
            </a:pPr>
            <a:r>
              <a:rPr lang="en-US" sz="1350" dirty="0">
                <a:solidFill>
                  <a:srgbClr val="4A453E"/>
                </a:solidFill>
                <a:latin typeface="Calibri" pitchFamily="34" charset="0"/>
                <a:ea typeface="Calibri" pitchFamily="34" charset="-122"/>
                <a:cs typeface="Calibri" pitchFamily="34" charset="-120"/>
              </a:rPr>
              <a:t>Ce que cette colonne dit vraiment. Dix UNVALIDATED dont six létales, c'est l'état normal d'une thèse à l'activité 2 — et un état inacceptable à G0. Entre les deux, les activités 3, 4 et 16 existent pour en faire bouger l'étiquette. Aucune ne bougera par relecture.</a:t>
            </a:r>
            <a:endParaRPr lang="en-US" sz="1350" dirty="0"/>
          </a:p>
        </p:txBody>
      </p:sp>
      <p:sp>
        <p:nvSpPr>
          <p:cNvPr id="6"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a:t>
            </a:r>
            <a:endParaRPr lang="en-US" sz="75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Point de test et porteur</a:t>
            </a:r>
            <a:endParaRPr lang="en-US" sz="2200" dirty="0"/>
          </a:p>
        </p:txBody>
      </p:sp>
      <p:sp>
        <p:nvSpPr>
          <p:cNvPr id="5" name="Text 3"/>
          <p:cNvSpPr txBox="1"/>
          <p:nvPr/>
        </p:nvSpPr>
        <p:spPr>
          <a:xfrm>
            <a:off x="868680" y="2057400"/>
            <a:ext cx="10454335" cy="1267097"/>
          </a:xfrm>
          <a:prstGeom prst="rect">
            <a:avLst/>
          </a:prstGeom>
          <a:noFill/>
          <a:ln/>
        </p:spPr>
        <p:txBody>
          <a:bodyPr wrap="square" lIns="0" tIns="0" rIns="0" bIns="0" rtlCol="0" anchor="t">
            <a:normAutofit/>
          </a:bodyPr>
          <a:lstStyle/>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Obligatoires pour toute UNVALIDATED.</a:t>
            </a:r>
            <a:endParaRPr lang="en-US" sz="1150" dirty="0"/>
          </a:p>
          <a:p>
            <a:pPr indent="0" marL="0">
              <a:lnSpc>
                <a:spcPts val="1500"/>
              </a:lnSpc>
              <a:spcAft>
                <a:spcPts val="600"/>
              </a:spcAft>
              <a:buNone/>
            </a:pPr>
            <a:r>
              <a:rPr lang="en-US" sz="1150" b="1" dirty="0">
                <a:solidFill>
                  <a:srgbClr val="4A453E"/>
                </a:solidFill>
                <a:latin typeface="Calibri" pitchFamily="34" charset="0"/>
                <a:ea typeface="Calibri" pitchFamily="34" charset="-122"/>
                <a:cs typeface="Calibri" pitchFamily="34" charset="-120"/>
              </a:rPr>
              <a:t>La faiblesse de ce plan, déclarée HYP-05 n'a pas de point de test satisfaisant avant la mise en service. L'activité 3 peut établir un ordre de grandeur sectoriel du taux de refus en paiement à la livraison ; elle ne peut pas établir le vôtre, sur votre catalogue, auprès de vos acheteurs. Or c'est l'hypothèse dont dépend l'économie du produit, et elle est adossée à une décision …</a:t>
            </a:r>
            <a:endParaRPr lang="en-US" sz="1150" dirty="0"/>
          </a:p>
          <a:p>
            <a:pPr indent="0" marL="0">
              <a:lnSpc>
                <a:spcPts val="1500"/>
              </a:lnSpc>
              <a:spcAft>
                <a:spcPts val="600"/>
              </a:spcAft>
              <a:buNone/>
            </a:pPr>
            <a:r>
              <a:rPr lang="en-US" sz="1150" dirty="0">
                <a:solidFill>
                  <a:srgbClr val="4A453E"/>
                </a:solidFill>
                <a:latin typeface="Calibri" pitchFamily="34" charset="0"/>
                <a:ea typeface="Calibri" pitchFamily="34" charset="-122"/>
                <a:cs typeface="Calibri" pitchFamily="34" charset="-120"/>
              </a:rPr>
              <a:t>Deux conséquences à porter plus loin, …</a:t>
            </a:r>
            <a:endParaRPr lang="en-US" sz="11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868680" y="3461657"/>
          <a:ext cx="9144000" cy="914400"/>
        </p:xfrm>
        <a:graphic>
          <a:graphicData uri="http://schemas.openxmlformats.org/drawingml/2006/table">
            <a:tbl>
              <a:tblPr/>
              <a:tblGrid>
                <a:gridCol w="444865"/>
                <a:gridCol w="5190095"/>
                <a:gridCol w="2076038"/>
                <a:gridCol w="2743336"/>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POINT DE TEST</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QUAND</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PORTEUR</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HYP-01</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WP-06 — profil de domaine et sources approuvées ; sources datées sur la pratique du padel au Maroc</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activité 3</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product-lead, verdict critic(domaine)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HYP-02</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WP-08 — entretiens, protocole écrit AVANT recrutement</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activité 4</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product-lead</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HYP-03</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WP-08 — mêmes entretiens, question de coût chiffré</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activité 4</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product-lead</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HYP-04</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WP-06 pour l'existence des canaux ; WP-08 pour l'accessibilité réelle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activités 3 et 4</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product-lead</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HYP-05</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WP-06 pour l'ordre de grandeur sectoriel ; confirmation seulement à la mise en service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activité 3, puis activité 26</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product-lead, puis release-engineer</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HYP-06</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WP-06 — recensement des acteurs, une occurrence suffit</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activité 3</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product-lead, verdict critic(domaine)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HYP-07</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WP-27 — readiness de delivery, à partir du temps de traitement observé</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activité 17</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factory-lead</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900" b="1" dirty="0">
                          <a:solidFill>
                            <a:srgbClr val="0F1318"/>
                          </a:solidFill>
                          <a:latin typeface="Calibri" pitchFamily="34" charset="0"/>
                          <a:ea typeface="Calibri" pitchFamily="34" charset="-122"/>
                          <a:cs typeface="Calibri" pitchFamily="34" charset="-120"/>
                        </a:rPr>
                        <a:t>HYP-08</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WP-22 — solution design de la release</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activité 14</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900" dirty="0">
                          <a:solidFill>
                            <a:srgbClr val="4A453E"/>
                          </a:solidFill>
                          <a:latin typeface="Calibri" pitchFamily="34" charset="0"/>
                          <a:ea typeface="Calibri" pitchFamily="34" charset="-122"/>
                          <a:cs typeface="Calibri" pitchFamily="34" charset="-120"/>
                        </a:rPr>
                        <a:t>principal-engineer</a:t>
                      </a:r>
                      <a:endParaRPr lang="en-US" sz="9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7" name="Text 4"/>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 — texte intégral dans le fichier</a:t>
            </a:r>
            <a:endParaRPr lang="en-US" sz="750" dirty="0"/>
          </a:p>
        </p:txBody>
      </p:sp>
      <p:sp>
        <p:nvSpPr>
          <p:cNvPr id="8"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1ECE3"/>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7C766B"/>
                </a:solidFill>
                <a:latin typeface="Arial" pitchFamily="34" charset="0"/>
                <a:ea typeface="Arial" pitchFamily="34" charset="-122"/>
                <a:cs typeface="Arial" pitchFamily="34" charset="-120"/>
              </a:rPr>
              <a:t>C1.2  ·  WP-05 — HYPOTHÈSES CRITIQUES  ·  SUITE</a:t>
            </a:r>
            <a:endParaRPr lang="en-US" sz="800" dirty="0"/>
          </a:p>
        </p:txBody>
      </p:sp>
      <p:sp>
        <p:nvSpPr>
          <p:cNvPr id="4" name="Text 2"/>
          <p:cNvSpPr txBox="1"/>
          <p:nvPr/>
        </p:nvSpPr>
        <p:spPr>
          <a:xfrm>
            <a:off x="868680" y="960120"/>
            <a:ext cx="10454335" cy="914400"/>
          </a:xfrm>
          <a:prstGeom prst="rect">
            <a:avLst/>
          </a:prstGeom>
          <a:noFill/>
          <a:ln/>
        </p:spPr>
        <p:txBody>
          <a:bodyPr wrap="square" lIns="0" tIns="0" rIns="0" bIns="0" rtlCol="0" anchor="t"/>
          <a:lstStyle/>
          <a:p>
            <a:pPr indent="0" marL="0">
              <a:lnSpc>
                <a:spcPts val="2500"/>
              </a:lnSpc>
              <a:buNone/>
            </a:pPr>
            <a:r>
              <a:rPr lang="en-US" sz="2200" b="1" spc="-30" kern="0" dirty="0">
                <a:solidFill>
                  <a:srgbClr val="0F1318"/>
                </a:solidFill>
                <a:latin typeface="Arial" pitchFamily="34" charset="0"/>
                <a:ea typeface="Arial" pitchFamily="34" charset="-122"/>
                <a:cs typeface="Arial" pitchFamily="34" charset="-120"/>
              </a:rPr>
              <a:t>Point de test et porteur</a:t>
            </a:r>
            <a:endParaRPr lang="en-US" sz="2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868680" y="2057400"/>
          <a:ext cx="9144000" cy="914400"/>
        </p:xfrm>
        <a:graphic>
          <a:graphicData uri="http://schemas.openxmlformats.org/drawingml/2006/table">
            <a:tbl>
              <a:tblPr/>
              <a:tblGrid>
                <a:gridCol w="412671"/>
                <a:gridCol w="4814496"/>
                <a:gridCol w="2751141"/>
                <a:gridCol w="2476027"/>
              </a:tblGrid>
              <a:tr h="0">
                <a:tc>
                  <a:txBody>
                    <a:bodyPr/>
                    <a:lstStyle/>
                    <a:p>
                      <a:pPr indent="0" marL="0">
                        <a:buNone/>
                      </a:pP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POINT DE TEST</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QUAND</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c>
                  <a:txBody>
                    <a:bodyPr/>
                    <a:lstStyle/>
                    <a:p>
                      <a:pPr indent="0" marL="0">
                        <a:buNone/>
                      </a:pPr>
                      <a:r>
                        <a:rPr lang="en-US" sz="750" b="1" spc="100" kern="0" dirty="0">
                          <a:solidFill>
                            <a:srgbClr val="7C766B"/>
                          </a:solidFill>
                          <a:latin typeface="Arial" pitchFamily="34" charset="0"/>
                          <a:ea typeface="Arial" pitchFamily="34" charset="-122"/>
                          <a:cs typeface="Arial" pitchFamily="34" charset="-120"/>
                        </a:rPr>
                        <a:t>PORTEUR</a:t>
                      </a:r>
                      <a:endParaRPr lang="en-US" sz="750" dirty="0">
                        <a:latin typeface="Arial" charset="0"/>
                        <a:ea typeface="Arial" charset="0"/>
                        <a:cs typeface="Arial" charset="0"/>
                      </a:endParaRPr>
                    </a:p>
                  </a:txBody>
                  <a:tcPr marL="0" marR="114300" marT="38100" marB="38100" anchor="b">
                    <a:lnL w="0" cap="flat" cmpd="sng" algn="ctr">
                      <a:noFill/>
                    </a:lnL>
                    <a:lnR w="0" cap="flat" cmpd="sng" algn="ctr">
                      <a:noFill/>
                    </a:lnR>
                    <a:lnT w="0" cap="flat" cmpd="sng" algn="ctr">
                      <a:noFill/>
                    </a:lnT>
                    <a:lnB w="12700" cap="flat" cmpd="sng" algn="ctr">
                      <a:solidFill>
                        <a:srgbClr val="0F1318"/>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HYP-09</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WP-08 — entretiens ; puis WP-25, validation utilisateurs</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activité 4, confirmé activité 16</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product-lead</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HYP-10</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WP-06 pour le taux sectoriel ; WP-14 et WP-23 pour la marge et le coût de refus — le calcul de a* doit être posé AVANT la mise en service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activités 3 et 9, réfutation activité 26</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product-lead puis principal-engineer</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HYP-M1</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Run Ledger relu déclaration par déclaration</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G0</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factory-lead</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r h="0">
                <a:tc>
                  <a:txBody>
                    <a:bodyPr/>
                    <a:lstStyle/>
                    <a:p>
                      <a:pPr indent="0" marL="0">
                        <a:buNone/>
                      </a:pPr>
                      <a:r>
                        <a:rPr lang="en-US" sz="1100" b="1" dirty="0">
                          <a:solidFill>
                            <a:srgbClr val="0F1318"/>
                          </a:solidFill>
                          <a:latin typeface="Calibri" pitchFamily="34" charset="0"/>
                          <a:ea typeface="Calibri" pitchFamily="34" charset="-122"/>
                          <a:cs typeface="Calibri" pitchFamily="34" charset="-120"/>
                        </a:rPr>
                        <a:t>HYP-M2</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Première gate atteinte</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G0</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c>
                  <a:txBody>
                    <a:bodyPr/>
                    <a:lstStyle/>
                    <a:p>
                      <a:pPr indent="0" marL="0">
                        <a:buNone/>
                      </a:pPr>
                      <a:r>
                        <a:rPr lang="en-US" sz="1100" dirty="0">
                          <a:solidFill>
                            <a:srgbClr val="4A453E"/>
                          </a:solidFill>
                          <a:latin typeface="Calibri" pitchFamily="34" charset="0"/>
                          <a:ea typeface="Calibri" pitchFamily="34" charset="-122"/>
                          <a:cs typeface="Calibri" pitchFamily="34" charset="-120"/>
                        </a:rPr>
                        <a:t>A. Benyahya, Product Owner</a:t>
                      </a:r>
                      <a:endParaRPr lang="en-US" sz="1100" dirty="0">
                        <a:latin typeface="Calibri" charset="0"/>
                        <a:ea typeface="Calibri" charset="0"/>
                        <a:cs typeface="Calibri" charset="0"/>
                      </a:endParaRPr>
                    </a:p>
                  </a:txBody>
                  <a:tcPr marL="0" marR="114300" marT="38100" marB="38100" anchor="t">
                    <a:lnL w="0" cap="flat" cmpd="sng" algn="ctr">
                      <a:noFill/>
                    </a:lnL>
                    <a:lnR w="0" cap="flat" cmpd="sng" algn="ctr">
                      <a:noFill/>
                    </a:lnR>
                    <a:lnT w="0" cap="flat" cmpd="sng" algn="ctr">
                      <a:noFill/>
                    </a:lnT>
                    <a:lnB w="7620" cap="flat" cmpd="sng" algn="ctr">
                      <a:solidFill>
                        <a:srgbClr val="DCD3C3"/>
                      </a:solidFill>
                      <a:prstDash val="solid"/>
                      <a:round/>
                      <a:headEnd type="none" w="med" len="med"/>
                      <a:tailEnd type="none" w="med" len="med"/>
                    </a:lnB>
                  </a:tcPr>
                </a:tc>
              </a:tr>
            </a:tbl>
          </a:graphicData>
        </a:graphic>
      </p:graphicFrame>
      <p:sp>
        <p:nvSpPr>
          <p:cNvPr id="6" name="Text 3"/>
          <p:cNvSpPr txBox="1"/>
          <p:nvPr/>
        </p:nvSpPr>
        <p:spPr>
          <a:xfrm>
            <a:off x="868680" y="6336792"/>
            <a:ext cx="9722815" cy="274320"/>
          </a:xfrm>
          <a:prstGeom prst="rect">
            <a:avLst/>
          </a:prstGeom>
          <a:noFill/>
          <a:ln/>
        </p:spPr>
        <p:txBody>
          <a:bodyPr wrap="square" lIns="0" tIns="0" rIns="0" bIns="0" rtlCol="0" anchor="ctr"/>
          <a:lstStyle/>
          <a:p>
            <a:pPr indent="0" marL="0">
              <a:lnSpc>
                <a:spcPts val="1000"/>
              </a:lnSpc>
              <a:buNone/>
            </a:pPr>
            <a:r>
              <a:rPr lang="en-US" sz="750" dirty="0">
                <a:solidFill>
                  <a:srgbClr val="7C766B"/>
                </a:solidFill>
                <a:latin typeface="Calibri" pitchFamily="34" charset="0"/>
                <a:ea typeface="Calibri" pitchFamily="34" charset="-122"/>
                <a:cs typeface="Calibri" pitchFamily="34" charset="-120"/>
              </a:rPr>
              <a:t>Source : product/C1.2-strategie/strategy/assumptions.md</a:t>
            </a:r>
            <a:endParaRPr lang="en-US" sz="750" dirty="0"/>
          </a:p>
        </p:txBody>
      </p:sp>
      <p:sp>
        <p:nvSpPr>
          <p:cNvPr id="7" name="Text 4"/>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7C766B"/>
                </a:solidFill>
                <a:latin typeface="Calibri" pitchFamily="34" charset="0"/>
                <a:ea typeface="Calibri" pitchFamily="34" charset="-122"/>
                <a:cs typeface="Calibri" pitchFamily="34" charset="-120"/>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868680" y="530352"/>
            <a:ext cx="384048" cy="32004"/>
          </a:xfrm>
          <a:prstGeom prst="rect">
            <a:avLst/>
          </a:prstGeom>
          <a:solidFill>
            <a:srgbClr val="D98324"/>
          </a:solidFill>
          <a:ln/>
        </p:spPr>
      </p:sp>
      <p:sp>
        <p:nvSpPr>
          <p:cNvPr id="3" name="Text 1"/>
          <p:cNvSpPr txBox="1"/>
          <p:nvPr/>
        </p:nvSpPr>
        <p:spPr>
          <a:xfrm>
            <a:off x="868680" y="640080"/>
            <a:ext cx="10454335"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8C8478"/>
                </a:solidFill>
                <a:latin typeface="Arial" pitchFamily="34" charset="0"/>
                <a:ea typeface="Arial" pitchFamily="34" charset="-122"/>
                <a:cs typeface="Arial" pitchFamily="34" charset="-120"/>
              </a:rPr>
              <a:t>C1.2  ·  WP-05 — HYPOTHÈSES CRITIQUES</a:t>
            </a:r>
            <a:endParaRPr lang="en-US" sz="800" dirty="0"/>
          </a:p>
        </p:txBody>
      </p:sp>
      <p:sp>
        <p:nvSpPr>
          <p:cNvPr id="4" name="Text 2"/>
          <p:cNvSpPr txBox="1"/>
          <p:nvPr/>
        </p:nvSpPr>
        <p:spPr>
          <a:xfrm>
            <a:off x="868680" y="960120"/>
            <a:ext cx="10454335" cy="640080"/>
          </a:xfrm>
          <a:prstGeom prst="rect">
            <a:avLst/>
          </a:prstGeom>
          <a:noFill/>
          <a:ln/>
        </p:spPr>
        <p:txBody>
          <a:bodyPr wrap="square" lIns="0" tIns="0" rIns="0" bIns="0" rtlCol="0" anchor="t"/>
          <a:lstStyle/>
          <a:p>
            <a:pPr indent="0" marL="0">
              <a:lnSpc>
                <a:spcPts val="3200"/>
              </a:lnSpc>
              <a:buNone/>
            </a:pPr>
            <a:r>
              <a:rPr lang="en-US" sz="2400" b="1" dirty="0">
                <a:solidFill>
                  <a:srgbClr val="F1ECE3"/>
                </a:solidFill>
                <a:latin typeface="Arial" pitchFamily="34" charset="0"/>
                <a:ea typeface="Arial" pitchFamily="34" charset="-122"/>
                <a:cs typeface="Arial" pitchFamily="34" charset="-120"/>
              </a:rPr>
              <a:t>Ce qui reste à vérifier</a:t>
            </a:r>
            <a:endParaRPr lang="en-US" sz="2400" dirty="0"/>
          </a:p>
        </p:txBody>
      </p:sp>
      <p:sp>
        <p:nvSpPr>
          <p:cNvPr id="5" name="Text 3"/>
          <p:cNvSpPr txBox="1"/>
          <p:nvPr/>
        </p:nvSpPr>
        <p:spPr>
          <a:xfrm>
            <a:off x="7269480" y="1783080"/>
            <a:ext cx="3657600" cy="219456"/>
          </a:xfrm>
          <a:prstGeom prst="rect">
            <a:avLst/>
          </a:prstGeom>
          <a:noFill/>
          <a:ln/>
        </p:spPr>
        <p:txBody>
          <a:bodyPr wrap="square" lIns="0" tIns="0" rIns="0" bIns="0" rtlCol="0" anchor="ctr"/>
          <a:lstStyle/>
          <a:p>
            <a:pPr indent="0" marL="0">
              <a:lnSpc>
                <a:spcPts val="1100"/>
              </a:lnSpc>
              <a:buNone/>
            </a:pPr>
            <a:r>
              <a:rPr lang="en-US" sz="800" b="1" spc="130" kern="0" dirty="0">
                <a:solidFill>
                  <a:srgbClr val="D98324"/>
                </a:solidFill>
                <a:latin typeface="Arial" pitchFamily="34" charset="0"/>
                <a:ea typeface="Arial" pitchFamily="34" charset="-122"/>
                <a:cs typeface="Arial" pitchFamily="34" charset="-120"/>
              </a:rPr>
              <a:t>RÉSERVES DÉCLARÉES</a:t>
            </a:r>
            <a:endParaRPr lang="en-US" sz="800" dirty="0"/>
          </a:p>
        </p:txBody>
      </p:sp>
      <p:sp>
        <p:nvSpPr>
          <p:cNvPr id="6" name="Text 4"/>
          <p:cNvSpPr txBox="1"/>
          <p:nvPr/>
        </p:nvSpPr>
        <p:spPr>
          <a:xfrm>
            <a:off x="7269480" y="2103120"/>
            <a:ext cx="4053535" cy="3291840"/>
          </a:xfrm>
          <a:prstGeom prst="rect">
            <a:avLst/>
          </a:prstGeom>
          <a:noFill/>
          <a:ln/>
        </p:spPr>
        <p:txBody>
          <a:bodyPr wrap="square" lIns="0" tIns="0" rIns="0" bIns="0" rtlCol="0" anchor="t">
            <a:normAutofit/>
          </a:bodyPr>
          <a:lstStyle/>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HYP-01 à HYP-08 sont toutes UNVALIDATED : aucune n'a été confrontée à un utilisateur ni à une source. C'est un état honnête à l'activité 2, pas un état satisfaisant à G0.</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Les points de test de HYP-01, HYP-02, HYP-03, HYP-04, HYP-06 et HYP-10 tombent aux activités 3 et 4, qui portent la capacité de recherche que l'activité 2 n'a pas.</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HYP-05 n'a pas de point de test satisfaisant avant la mise en service : c'est la faiblesse structurelle de ce plan d'hypothèses, et elle est déclarée plutôt que masquée.</a:t>
            </a:r>
            <a:endParaRPr lang="en-US" sz="1000" dirty="0"/>
          </a:p>
          <a:p>
            <a:pPr marL="152400" indent="-152400">
              <a:lnSpc>
                <a:spcPts val="1300"/>
              </a:lnSpc>
              <a:spcAft>
                <a:spcPts val="600"/>
              </a:spcAft>
              <a:buSzPct val="100000"/>
              <a:buChar char="•"/>
            </a:pPr>
            <a:r>
              <a:rPr lang="en-US" sz="1000" dirty="0">
                <a:solidFill>
                  <a:srgbClr val="C6BFB3"/>
                </a:solidFill>
                <a:latin typeface="Calibri" pitchFamily="34" charset="0"/>
                <a:ea typeface="Calibri" pitchFamily="34" charset="-122"/>
                <a:cs typeface="Calibri" pitchFamily="34" charset="-120"/>
              </a:rPr>
              <a:t>HYP-M1 et HYP-M2 portent sur le run et non sur le produit : hors compte critique, elles ne tracent vers aucun OUT.</a:t>
            </a:r>
            <a:endParaRPr lang="en-US" sz="1000" dirty="0"/>
          </a:p>
        </p:txBody>
      </p:sp>
      <p:sp>
        <p:nvSpPr>
          <p:cNvPr id="7" name="Text 5"/>
          <p:cNvSpPr txBox="1"/>
          <p:nvPr/>
        </p:nvSpPr>
        <p:spPr>
          <a:xfrm>
            <a:off x="10865815" y="6355080"/>
            <a:ext cx="457200" cy="237744"/>
          </a:xfrm>
          <a:prstGeom prst="rect">
            <a:avLst/>
          </a:prstGeom>
          <a:noFill/>
          <a:ln/>
        </p:spPr>
        <p:txBody>
          <a:bodyPr wrap="square" lIns="0" tIns="0" rIns="0" bIns="0" rtlCol="0" anchor="ctr"/>
          <a:lstStyle/>
          <a:p>
            <a:pPr algn="r" indent="0" marL="0">
              <a:lnSpc>
                <a:spcPts val="1100"/>
              </a:lnSpc>
              <a:buNone/>
            </a:pPr>
            <a:r>
              <a:rPr lang="en-US" sz="800" dirty="0">
                <a:solidFill>
                  <a:srgbClr val="8C8478"/>
                </a:solidFill>
                <a:latin typeface="Calibri" pitchFamily="34" charset="0"/>
                <a:ea typeface="Calibri" pitchFamily="34" charset="-122"/>
                <a:cs typeface="Calibri" pitchFamily="34" charset="-120"/>
              </a:rPr>
              <a:t>27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Ouazzani design — Thèse produit, outcomes et hypothèses critiques</dc:title>
  <dc:subject>PptxGenJS Presentation</dc:subject>
  <dc:creator>PptxGenJS</dc:creator>
  <cp:lastModifiedBy>PptxGenJS</cp:lastModifiedBy>
  <cp:revision>1</cp:revision>
  <dcterms:created xsi:type="dcterms:W3CDTF">2026-10-08T22:01:48Z</dcterms:created>
  <dcterms:modified xsi:type="dcterms:W3CDTF">2026-10-08T22:01:48Z</dcterms:modified>
</cp:coreProperties>
</file>